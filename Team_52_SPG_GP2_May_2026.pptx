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70" r:id="rId4"/>
    <p:sldId id="271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34" userDrawn="1">
          <p15:clr>
            <a:srgbClr val="A4A3A4"/>
          </p15:clr>
        </p15:guide>
        <p15:guide id="2" pos="5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030"/>
    <a:srgbClr val="7A1F1A"/>
    <a:srgbClr val="F0E3BE"/>
    <a:srgbClr val="EAD8A4"/>
    <a:srgbClr val="E7D399"/>
    <a:srgbClr val="D33931"/>
    <a:srgbClr val="DC605A"/>
    <a:srgbClr val="591613"/>
    <a:srgbClr val="601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5" autoAdjust="0"/>
    <p:restoredTop sz="93842" autoAdjust="0"/>
  </p:normalViewPr>
  <p:slideViewPr>
    <p:cSldViewPr snapToGrid="0" snapToObjects="1">
      <p:cViewPr>
        <p:scale>
          <a:sx n="125" d="100"/>
          <a:sy n="125" d="100"/>
        </p:scale>
        <p:origin x="-3764" y="-476"/>
      </p:cViewPr>
      <p:guideLst>
        <p:guide orient="horz" pos="3634"/>
        <p:guide pos="5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60C00D-DFC4-409A-9902-1EAB3A81BA60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300C327-2855-4747-84E6-DF937663B2D2}">
      <dgm:prSet phldrT="[Text]" phldr="0" custT="1"/>
      <dgm:spPr>
        <a:solidFill>
          <a:srgbClr val="7A1F1A"/>
        </a:solidFill>
        <a:ln>
          <a:solidFill>
            <a:srgbClr val="C9A030"/>
          </a:solidFill>
        </a:ln>
      </dgm:spPr>
      <dgm:t>
        <a:bodyPr/>
        <a:lstStyle/>
        <a:p>
          <a:r>
            <a:rPr lang="en-US" sz="1800" b="0" i="0" dirty="0"/>
            <a:t>Literature Review</a:t>
          </a:r>
          <a:endParaRPr lang="en-IN" sz="1800" b="0" i="0" dirty="0"/>
        </a:p>
      </dgm:t>
    </dgm:pt>
    <dgm:pt modelId="{09FBA402-E90A-4C26-82E5-0AD6156559CA}" type="parTrans" cxnId="{7D56E0DA-310A-4AD7-A1BA-F9AFF250F7FC}">
      <dgm:prSet/>
      <dgm:spPr/>
      <dgm:t>
        <a:bodyPr/>
        <a:lstStyle/>
        <a:p>
          <a:endParaRPr lang="en-IN"/>
        </a:p>
      </dgm:t>
    </dgm:pt>
    <dgm:pt modelId="{F9DAB3A0-62A2-485A-AD2E-CC87211012ED}" type="sibTrans" cxnId="{7D56E0DA-310A-4AD7-A1BA-F9AFF250F7FC}">
      <dgm:prSet/>
      <dgm:spPr>
        <a:solidFill>
          <a:srgbClr val="E7D399"/>
        </a:solidFill>
        <a:ln>
          <a:solidFill>
            <a:srgbClr val="C9A030"/>
          </a:solidFill>
        </a:ln>
      </dgm:spPr>
      <dgm:t>
        <a:bodyPr/>
        <a:lstStyle/>
        <a:p>
          <a:endParaRPr lang="en-IN"/>
        </a:p>
      </dgm:t>
    </dgm:pt>
    <dgm:pt modelId="{AACF529E-051E-4947-9CC6-9C4F65C02E29}">
      <dgm:prSet phldrT="[Text]" phldr="0" custT="1"/>
      <dgm:spPr>
        <a:ln>
          <a:solidFill>
            <a:srgbClr val="C9A030"/>
          </a:solidFill>
        </a:ln>
      </dgm:spPr>
      <dgm:t>
        <a:bodyPr/>
        <a:lstStyle/>
        <a:p>
          <a:pPr>
            <a:lnSpc>
              <a:spcPct val="114000"/>
            </a:lnSpc>
            <a:buFont typeface="Wingdings" panose="05000000000000000000" pitchFamily="2" charset="2"/>
            <a:buChar char="§"/>
          </a:pPr>
          <a:r>
            <a:rPr lang="en-US" sz="1600" b="1" dirty="0"/>
            <a:t>Review:</a:t>
          </a:r>
          <a:r>
            <a:rPr lang="en-US" sz="1600" dirty="0"/>
            <a:t> Academic literature concerning technostress and AI anxiety were referred </a:t>
          </a:r>
          <a:r>
            <a:rPr lang="en-US" sz="1600" i="1" dirty="0"/>
            <a:t>(below)</a:t>
          </a:r>
          <a:r>
            <a:rPr lang="en-US" sz="1600" dirty="0"/>
            <a:t>.</a:t>
          </a:r>
          <a:endParaRPr lang="en-IN" sz="1600" dirty="0"/>
        </a:p>
      </dgm:t>
    </dgm:pt>
    <dgm:pt modelId="{A5476B56-899A-435C-B39E-7AB7025CEAAA}" type="parTrans" cxnId="{0591C196-33C8-4D53-810B-42918EB4A7CC}">
      <dgm:prSet/>
      <dgm:spPr/>
      <dgm:t>
        <a:bodyPr/>
        <a:lstStyle/>
        <a:p>
          <a:endParaRPr lang="en-IN"/>
        </a:p>
      </dgm:t>
    </dgm:pt>
    <dgm:pt modelId="{8A044F0D-B95B-412C-ADD3-E166C0AF4CA9}" type="sibTrans" cxnId="{0591C196-33C8-4D53-810B-42918EB4A7CC}">
      <dgm:prSet/>
      <dgm:spPr/>
      <dgm:t>
        <a:bodyPr/>
        <a:lstStyle/>
        <a:p>
          <a:endParaRPr lang="en-IN"/>
        </a:p>
      </dgm:t>
    </dgm:pt>
    <dgm:pt modelId="{AC96F760-F86D-4958-8788-F8A556428D65}">
      <dgm:prSet phldrT="[Text]" phldr="0" custT="1"/>
      <dgm:spPr>
        <a:solidFill>
          <a:srgbClr val="7A1F1A"/>
        </a:solidFill>
        <a:ln>
          <a:solidFill>
            <a:srgbClr val="C9A030"/>
          </a:solidFill>
        </a:ln>
      </dgm:spPr>
      <dgm:t>
        <a:bodyPr/>
        <a:lstStyle/>
        <a:p>
          <a:r>
            <a:rPr lang="en-US" sz="1800" b="0" i="0" dirty="0"/>
            <a:t>Data Collection</a:t>
          </a:r>
          <a:endParaRPr lang="en-IN" sz="1800" b="0" i="0" dirty="0"/>
        </a:p>
      </dgm:t>
    </dgm:pt>
    <dgm:pt modelId="{0DC433BD-84FD-418D-995B-DF66277C78A8}" type="parTrans" cxnId="{782944EA-454F-46F7-BCEB-312C89673EBB}">
      <dgm:prSet/>
      <dgm:spPr/>
      <dgm:t>
        <a:bodyPr/>
        <a:lstStyle/>
        <a:p>
          <a:endParaRPr lang="en-IN"/>
        </a:p>
      </dgm:t>
    </dgm:pt>
    <dgm:pt modelId="{7D9F76C7-2449-49BB-BFCA-6B437946E25F}" type="sibTrans" cxnId="{782944EA-454F-46F7-BCEB-312C89673EBB}">
      <dgm:prSet/>
      <dgm:spPr>
        <a:solidFill>
          <a:srgbClr val="E7D399"/>
        </a:solidFill>
        <a:ln>
          <a:solidFill>
            <a:srgbClr val="C9A030"/>
          </a:solidFill>
        </a:ln>
      </dgm:spPr>
      <dgm:t>
        <a:bodyPr/>
        <a:lstStyle/>
        <a:p>
          <a:endParaRPr lang="en-IN"/>
        </a:p>
      </dgm:t>
    </dgm:pt>
    <dgm:pt modelId="{CA07D17C-7871-4750-8721-BA61A5325DDD}">
      <dgm:prSet phldrT="[Text]" phldr="0" custT="1"/>
      <dgm:spPr>
        <a:ln>
          <a:solidFill>
            <a:srgbClr val="C9A030"/>
          </a:solidFill>
        </a:ln>
      </dgm:spPr>
      <dgm:t>
        <a:bodyPr/>
        <a:lstStyle/>
        <a:p>
          <a:pPr>
            <a:lnSpc>
              <a:spcPct val="114000"/>
            </a:lnSpc>
            <a:buFont typeface="Wingdings" panose="05000000000000000000" pitchFamily="2" charset="2"/>
            <a:buChar char="§"/>
          </a:pPr>
          <a:r>
            <a:rPr lang="en-US" sz="1600" b="1" dirty="0"/>
            <a:t>Selection</a:t>
          </a:r>
          <a:r>
            <a:rPr lang="en-US" sz="1600" dirty="0"/>
            <a:t>: Participants with ranging experiences from the IT industry, which happen to be one of the most affected with AI automation, were selected and interviewed.</a:t>
          </a:r>
          <a:endParaRPr lang="en-IN" sz="1600" dirty="0"/>
        </a:p>
      </dgm:t>
    </dgm:pt>
    <dgm:pt modelId="{325B5D13-AFF4-45EA-B01A-457900BE5712}" type="parTrans" cxnId="{095AB7C2-0526-4CD4-ACC9-AF62AE7F0508}">
      <dgm:prSet/>
      <dgm:spPr/>
      <dgm:t>
        <a:bodyPr/>
        <a:lstStyle/>
        <a:p>
          <a:endParaRPr lang="en-IN"/>
        </a:p>
      </dgm:t>
    </dgm:pt>
    <dgm:pt modelId="{43E7CC38-6966-4A69-8BF9-C663F1AEBB5C}" type="sibTrans" cxnId="{095AB7C2-0526-4CD4-ACC9-AF62AE7F0508}">
      <dgm:prSet/>
      <dgm:spPr/>
      <dgm:t>
        <a:bodyPr/>
        <a:lstStyle/>
        <a:p>
          <a:endParaRPr lang="en-IN"/>
        </a:p>
      </dgm:t>
    </dgm:pt>
    <dgm:pt modelId="{3E71E3E9-B3E1-4F84-B4D5-7F4A6E003A31}">
      <dgm:prSet phldrT="[Text]" phldr="0" custT="1"/>
      <dgm:spPr>
        <a:solidFill>
          <a:srgbClr val="7A1F1A"/>
        </a:solidFill>
        <a:ln>
          <a:solidFill>
            <a:srgbClr val="C9A030"/>
          </a:solidFill>
        </a:ln>
      </dgm:spPr>
      <dgm:t>
        <a:bodyPr/>
        <a:lstStyle/>
        <a:p>
          <a:r>
            <a:rPr lang="en-US" sz="1800" b="0" i="0" dirty="0"/>
            <a:t>Thematic Coding</a:t>
          </a:r>
          <a:endParaRPr lang="en-IN" sz="1800" b="0" i="0" dirty="0"/>
        </a:p>
      </dgm:t>
    </dgm:pt>
    <dgm:pt modelId="{2F0B2545-505D-443F-9AC2-53FF82B5D365}" type="parTrans" cxnId="{C6FED6AA-B1EC-430D-B957-3BD917D7B3FC}">
      <dgm:prSet/>
      <dgm:spPr/>
      <dgm:t>
        <a:bodyPr/>
        <a:lstStyle/>
        <a:p>
          <a:endParaRPr lang="en-IN"/>
        </a:p>
      </dgm:t>
    </dgm:pt>
    <dgm:pt modelId="{BD208353-8DF9-48B4-8DA4-CD1E8E6A3E07}" type="sibTrans" cxnId="{C6FED6AA-B1EC-430D-B957-3BD917D7B3FC}">
      <dgm:prSet/>
      <dgm:spPr/>
      <dgm:t>
        <a:bodyPr/>
        <a:lstStyle/>
        <a:p>
          <a:endParaRPr lang="en-IN"/>
        </a:p>
      </dgm:t>
    </dgm:pt>
    <dgm:pt modelId="{7C50315F-596E-4035-B080-1D0F13407B51}">
      <dgm:prSet phldrT="[Text]" phldr="0" custT="1"/>
      <dgm:spPr>
        <a:ln>
          <a:solidFill>
            <a:srgbClr val="C9A030"/>
          </a:solidFill>
        </a:ln>
      </dgm:spPr>
      <dgm:t>
        <a:bodyPr/>
        <a:lstStyle/>
        <a:p>
          <a:pPr>
            <a:lnSpc>
              <a:spcPct val="114000"/>
            </a:lnSpc>
            <a:buFont typeface="Wingdings" panose="05000000000000000000" pitchFamily="2" charset="2"/>
            <a:buChar char="§"/>
          </a:pPr>
          <a:r>
            <a:rPr lang="en-US" sz="1600" b="1" dirty="0"/>
            <a:t>Mapping: </a:t>
          </a:r>
          <a:r>
            <a:rPr lang="en-US" sz="1600" dirty="0"/>
            <a:t>Process mapping of user interaction, behavioral breakdown and professional performance under compressed timelines, with agentic automation, tools and behaviors.</a:t>
          </a:r>
          <a:endParaRPr lang="en-IN" sz="1600" dirty="0"/>
        </a:p>
      </dgm:t>
    </dgm:pt>
    <dgm:pt modelId="{D5F54D7E-BD97-4D62-8FBF-C6743D7CE972}" type="parTrans" cxnId="{01D54D41-59D8-4117-B8BF-4F345EEB3BF3}">
      <dgm:prSet/>
      <dgm:spPr/>
      <dgm:t>
        <a:bodyPr/>
        <a:lstStyle/>
        <a:p>
          <a:endParaRPr lang="en-IN"/>
        </a:p>
      </dgm:t>
    </dgm:pt>
    <dgm:pt modelId="{2F4B31F6-F680-4836-98A5-C7518503D648}" type="sibTrans" cxnId="{01D54D41-59D8-4117-B8BF-4F345EEB3BF3}">
      <dgm:prSet/>
      <dgm:spPr/>
      <dgm:t>
        <a:bodyPr/>
        <a:lstStyle/>
        <a:p>
          <a:endParaRPr lang="en-IN"/>
        </a:p>
      </dgm:t>
    </dgm:pt>
    <dgm:pt modelId="{033E467D-9283-4E3A-B894-7F88F36A089E}">
      <dgm:prSet phldrT="[Text]" phldr="0" custT="1"/>
      <dgm:spPr>
        <a:ln>
          <a:solidFill>
            <a:srgbClr val="C9A030"/>
          </a:solidFill>
        </a:ln>
      </dgm:spPr>
      <dgm:t>
        <a:bodyPr/>
        <a:lstStyle/>
        <a:p>
          <a:pPr>
            <a:lnSpc>
              <a:spcPct val="114000"/>
            </a:lnSpc>
            <a:buFont typeface="Wingdings" panose="05000000000000000000" pitchFamily="2" charset="2"/>
            <a:buChar char="§"/>
          </a:pPr>
          <a:r>
            <a:rPr lang="en-US" sz="1600" b="1" dirty="0"/>
            <a:t>Questions:</a:t>
          </a:r>
          <a:r>
            <a:rPr lang="en-US" sz="1600" dirty="0"/>
            <a:t> Based on it, 10 deep qualitative questions were formed.</a:t>
          </a:r>
          <a:endParaRPr lang="en-IN" sz="1600" dirty="0"/>
        </a:p>
      </dgm:t>
    </dgm:pt>
    <dgm:pt modelId="{6DB22218-EF1B-4969-9505-2715A343E625}" type="parTrans" cxnId="{9468C361-D303-489C-9099-CE7E0D30B176}">
      <dgm:prSet/>
      <dgm:spPr/>
      <dgm:t>
        <a:bodyPr/>
        <a:lstStyle/>
        <a:p>
          <a:endParaRPr lang="en-IN"/>
        </a:p>
      </dgm:t>
    </dgm:pt>
    <dgm:pt modelId="{6819878A-51A5-4992-A67F-9EF2BEC058B2}" type="sibTrans" cxnId="{9468C361-D303-489C-9099-CE7E0D30B176}">
      <dgm:prSet/>
      <dgm:spPr/>
      <dgm:t>
        <a:bodyPr/>
        <a:lstStyle/>
        <a:p>
          <a:endParaRPr lang="en-IN"/>
        </a:p>
      </dgm:t>
    </dgm:pt>
    <dgm:pt modelId="{10A467EB-9CD2-4DDA-963B-971357DD13A3}">
      <dgm:prSet phldrT="[Text]" phldr="0" custT="1"/>
      <dgm:spPr>
        <a:ln>
          <a:solidFill>
            <a:srgbClr val="C9A030"/>
          </a:solidFill>
        </a:ln>
      </dgm:spPr>
      <dgm:t>
        <a:bodyPr/>
        <a:lstStyle/>
        <a:p>
          <a:pPr>
            <a:lnSpc>
              <a:spcPct val="90000"/>
            </a:lnSpc>
          </a:pPr>
          <a:endParaRPr lang="en-IN" sz="1600" dirty="0"/>
        </a:p>
      </dgm:t>
    </dgm:pt>
    <dgm:pt modelId="{69036248-F61B-44FC-9FC7-B6F748971A72}" type="parTrans" cxnId="{BA8A125C-61B8-40BE-8A9C-A1C767AAAAC6}">
      <dgm:prSet/>
      <dgm:spPr/>
      <dgm:t>
        <a:bodyPr/>
        <a:lstStyle/>
        <a:p>
          <a:endParaRPr lang="en-IN"/>
        </a:p>
      </dgm:t>
    </dgm:pt>
    <dgm:pt modelId="{49322AD3-B005-473E-9120-4543094A19CB}" type="sibTrans" cxnId="{BA8A125C-61B8-40BE-8A9C-A1C767AAAAC6}">
      <dgm:prSet/>
      <dgm:spPr/>
      <dgm:t>
        <a:bodyPr/>
        <a:lstStyle/>
        <a:p>
          <a:endParaRPr lang="en-IN"/>
        </a:p>
      </dgm:t>
    </dgm:pt>
    <dgm:pt modelId="{00C83BBF-F7C7-48C1-B95C-29C3C74566EC}">
      <dgm:prSet phldrT="[Text]" phldr="0"/>
      <dgm:spPr>
        <a:ln>
          <a:solidFill>
            <a:srgbClr val="C9A030"/>
          </a:solidFill>
        </a:ln>
      </dgm:spPr>
      <dgm:t>
        <a:bodyPr/>
        <a:lstStyle/>
        <a:p>
          <a:pPr>
            <a:lnSpc>
              <a:spcPct val="90000"/>
            </a:lnSpc>
          </a:pPr>
          <a:endParaRPr lang="en-IN" sz="1500" dirty="0"/>
        </a:p>
      </dgm:t>
    </dgm:pt>
    <dgm:pt modelId="{C6B3FAD2-BA59-457A-BFAB-3587A590A6BA}" type="parTrans" cxnId="{0072C8F5-5948-4289-AAD9-7AA352BB4453}">
      <dgm:prSet/>
      <dgm:spPr/>
      <dgm:t>
        <a:bodyPr/>
        <a:lstStyle/>
        <a:p>
          <a:endParaRPr lang="en-IN"/>
        </a:p>
      </dgm:t>
    </dgm:pt>
    <dgm:pt modelId="{2C000875-5ECA-4E25-AAE0-E677317EC66B}" type="sibTrans" cxnId="{0072C8F5-5948-4289-AAD9-7AA352BB4453}">
      <dgm:prSet/>
      <dgm:spPr/>
      <dgm:t>
        <a:bodyPr/>
        <a:lstStyle/>
        <a:p>
          <a:endParaRPr lang="en-IN"/>
        </a:p>
      </dgm:t>
    </dgm:pt>
    <dgm:pt modelId="{651C51BF-0F75-497C-84D3-0EAE2E7F08D9}" type="pres">
      <dgm:prSet presAssocID="{8F60C00D-DFC4-409A-9902-1EAB3A81BA60}" presName="Name0" presStyleCnt="0">
        <dgm:presLayoutVars>
          <dgm:dir/>
          <dgm:animLvl val="lvl"/>
          <dgm:resizeHandles val="exact"/>
        </dgm:presLayoutVars>
      </dgm:prSet>
      <dgm:spPr/>
    </dgm:pt>
    <dgm:pt modelId="{0CAC8BCA-D9A9-475B-9F67-FB65E6417544}" type="pres">
      <dgm:prSet presAssocID="{8F60C00D-DFC4-409A-9902-1EAB3A81BA60}" presName="tSp" presStyleCnt="0"/>
      <dgm:spPr/>
    </dgm:pt>
    <dgm:pt modelId="{A898D13B-6E74-45CB-95B8-6707196E6DD5}" type="pres">
      <dgm:prSet presAssocID="{8F60C00D-DFC4-409A-9902-1EAB3A81BA60}" presName="bSp" presStyleCnt="0"/>
      <dgm:spPr/>
    </dgm:pt>
    <dgm:pt modelId="{63E4FFAF-2D23-4FCE-BA9C-C6CDA869F92B}" type="pres">
      <dgm:prSet presAssocID="{8F60C00D-DFC4-409A-9902-1EAB3A81BA60}" presName="process" presStyleCnt="0"/>
      <dgm:spPr/>
    </dgm:pt>
    <dgm:pt modelId="{1CF6A56B-D633-470A-8FB4-B420F6B5FC78}" type="pres">
      <dgm:prSet presAssocID="{8300C327-2855-4747-84E6-DF937663B2D2}" presName="composite1" presStyleCnt="0"/>
      <dgm:spPr/>
    </dgm:pt>
    <dgm:pt modelId="{A3C2FD59-2E41-47C2-A24D-A0D68013A0AE}" type="pres">
      <dgm:prSet presAssocID="{8300C327-2855-4747-84E6-DF937663B2D2}" presName="dummyNode1" presStyleLbl="node1" presStyleIdx="0" presStyleCnt="3"/>
      <dgm:spPr/>
    </dgm:pt>
    <dgm:pt modelId="{CC42A2BC-892C-42CF-8CA4-ABF6BB5182C2}" type="pres">
      <dgm:prSet presAssocID="{8300C327-2855-4747-84E6-DF937663B2D2}" presName="childNode1" presStyleLbl="bgAcc1" presStyleIdx="0" presStyleCnt="3" custScaleX="119778" custScaleY="105366">
        <dgm:presLayoutVars>
          <dgm:bulletEnabled val="1"/>
        </dgm:presLayoutVars>
      </dgm:prSet>
      <dgm:spPr/>
    </dgm:pt>
    <dgm:pt modelId="{0DA6F89B-477F-4D24-AA4A-9555D94973B5}" type="pres">
      <dgm:prSet presAssocID="{8300C327-2855-4747-84E6-DF937663B2D2}" presName="childNode1tx" presStyleLbl="bgAcc1" presStyleIdx="0" presStyleCnt="3">
        <dgm:presLayoutVars>
          <dgm:bulletEnabled val="1"/>
        </dgm:presLayoutVars>
      </dgm:prSet>
      <dgm:spPr/>
    </dgm:pt>
    <dgm:pt modelId="{299F8CEA-38EC-4A1F-8138-20A29CBD682F}" type="pres">
      <dgm:prSet presAssocID="{8300C327-2855-4747-84E6-DF937663B2D2}" presName="parentNode1" presStyleLbl="node1" presStyleIdx="0" presStyleCnt="3" custScaleX="85647" custScaleY="55657" custLinFactNeighborX="-1244" custLinFactNeighborY="-2566">
        <dgm:presLayoutVars>
          <dgm:chMax val="1"/>
          <dgm:bulletEnabled val="1"/>
        </dgm:presLayoutVars>
      </dgm:prSet>
      <dgm:spPr/>
    </dgm:pt>
    <dgm:pt modelId="{CBAB73FE-0A73-4FE2-B0AE-720DD05A080D}" type="pres">
      <dgm:prSet presAssocID="{8300C327-2855-4747-84E6-DF937663B2D2}" presName="connSite1" presStyleCnt="0"/>
      <dgm:spPr/>
    </dgm:pt>
    <dgm:pt modelId="{A03615B9-5846-41B8-90A7-F1CBBA75E601}" type="pres">
      <dgm:prSet presAssocID="{F9DAB3A0-62A2-485A-AD2E-CC87211012ED}" presName="Name9" presStyleLbl="sibTrans2D1" presStyleIdx="0" presStyleCnt="2" custLinFactNeighborY="-13363"/>
      <dgm:spPr/>
    </dgm:pt>
    <dgm:pt modelId="{5D14BFA4-4021-446A-89FC-96A0B9D7B3F5}" type="pres">
      <dgm:prSet presAssocID="{AC96F760-F86D-4958-8788-F8A556428D65}" presName="composite2" presStyleCnt="0"/>
      <dgm:spPr/>
    </dgm:pt>
    <dgm:pt modelId="{812C7F44-5E8E-4992-BB81-F03AA8F910B9}" type="pres">
      <dgm:prSet presAssocID="{AC96F760-F86D-4958-8788-F8A556428D65}" presName="dummyNode2" presStyleLbl="node1" presStyleIdx="0" presStyleCnt="3"/>
      <dgm:spPr/>
    </dgm:pt>
    <dgm:pt modelId="{C4CF1B3C-0EFB-464C-A2AE-2D96F3B15833}" type="pres">
      <dgm:prSet presAssocID="{AC96F760-F86D-4958-8788-F8A556428D65}" presName="childNode2" presStyleLbl="bgAcc1" presStyleIdx="1" presStyleCnt="3" custScaleX="125998" custScaleY="99315">
        <dgm:presLayoutVars>
          <dgm:bulletEnabled val="1"/>
        </dgm:presLayoutVars>
      </dgm:prSet>
      <dgm:spPr/>
    </dgm:pt>
    <dgm:pt modelId="{D5FBBC5C-8163-47CF-8A8D-2A3FE7C54600}" type="pres">
      <dgm:prSet presAssocID="{AC96F760-F86D-4958-8788-F8A556428D65}" presName="childNode2tx" presStyleLbl="bgAcc1" presStyleIdx="1" presStyleCnt="3">
        <dgm:presLayoutVars>
          <dgm:bulletEnabled val="1"/>
        </dgm:presLayoutVars>
      </dgm:prSet>
      <dgm:spPr/>
    </dgm:pt>
    <dgm:pt modelId="{26835EB4-8F6C-4883-8EA4-96647D4E4EC9}" type="pres">
      <dgm:prSet presAssocID="{AC96F760-F86D-4958-8788-F8A556428D65}" presName="parentNode2" presStyleLbl="node1" presStyleIdx="1" presStyleCnt="3" custScaleX="81819" custScaleY="60122" custLinFactNeighborX="1953" custLinFactNeighborY="15986">
        <dgm:presLayoutVars>
          <dgm:chMax val="0"/>
          <dgm:bulletEnabled val="1"/>
        </dgm:presLayoutVars>
      </dgm:prSet>
      <dgm:spPr/>
    </dgm:pt>
    <dgm:pt modelId="{96F099F8-3315-41BB-B19A-12D3AC51D28D}" type="pres">
      <dgm:prSet presAssocID="{AC96F760-F86D-4958-8788-F8A556428D65}" presName="connSite2" presStyleCnt="0"/>
      <dgm:spPr/>
    </dgm:pt>
    <dgm:pt modelId="{B3DF4635-AEEE-4CBB-9E54-BEF363CAC3A1}" type="pres">
      <dgm:prSet presAssocID="{7D9F76C7-2449-49BB-BFCA-6B437946E25F}" presName="Name18" presStyleLbl="sibTrans2D1" presStyleIdx="1" presStyleCnt="2" custLinFactNeighborY="12673"/>
      <dgm:spPr/>
    </dgm:pt>
    <dgm:pt modelId="{122B1349-E8D2-4DDC-8937-9525C51A5539}" type="pres">
      <dgm:prSet presAssocID="{3E71E3E9-B3E1-4F84-B4D5-7F4A6E003A31}" presName="composite1" presStyleCnt="0"/>
      <dgm:spPr/>
    </dgm:pt>
    <dgm:pt modelId="{962F49D1-17A6-4738-A758-8248388CE13A}" type="pres">
      <dgm:prSet presAssocID="{3E71E3E9-B3E1-4F84-B4D5-7F4A6E003A31}" presName="dummyNode1" presStyleLbl="node1" presStyleIdx="1" presStyleCnt="3"/>
      <dgm:spPr/>
    </dgm:pt>
    <dgm:pt modelId="{A5ADCBA9-886F-43E0-9DC8-A730F4DAD6AF}" type="pres">
      <dgm:prSet presAssocID="{3E71E3E9-B3E1-4F84-B4D5-7F4A6E003A31}" presName="childNode1" presStyleLbl="bgAcc1" presStyleIdx="2" presStyleCnt="3" custScaleX="127992" custScaleY="96801">
        <dgm:presLayoutVars>
          <dgm:bulletEnabled val="1"/>
        </dgm:presLayoutVars>
      </dgm:prSet>
      <dgm:spPr/>
    </dgm:pt>
    <dgm:pt modelId="{692F72DC-3FFF-4630-AEA1-A5E2493271F9}" type="pres">
      <dgm:prSet presAssocID="{3E71E3E9-B3E1-4F84-B4D5-7F4A6E003A31}" presName="childNode1tx" presStyleLbl="bgAcc1" presStyleIdx="2" presStyleCnt="3">
        <dgm:presLayoutVars>
          <dgm:bulletEnabled val="1"/>
        </dgm:presLayoutVars>
      </dgm:prSet>
      <dgm:spPr/>
    </dgm:pt>
    <dgm:pt modelId="{D73BD206-16D2-480A-A995-194AC6211DCC}" type="pres">
      <dgm:prSet presAssocID="{3E71E3E9-B3E1-4F84-B4D5-7F4A6E003A31}" presName="parentNode1" presStyleLbl="node1" presStyleIdx="2" presStyleCnt="3" custScaleX="84268" custScaleY="60699" custLinFactNeighborX="3201" custLinFactNeighborY="-14197">
        <dgm:presLayoutVars>
          <dgm:chMax val="1"/>
          <dgm:bulletEnabled val="1"/>
        </dgm:presLayoutVars>
      </dgm:prSet>
      <dgm:spPr/>
    </dgm:pt>
    <dgm:pt modelId="{3F006AA4-891A-41FF-B89F-DE6C2B6217A5}" type="pres">
      <dgm:prSet presAssocID="{3E71E3E9-B3E1-4F84-B4D5-7F4A6E003A31}" presName="connSite1" presStyleCnt="0"/>
      <dgm:spPr/>
    </dgm:pt>
  </dgm:ptLst>
  <dgm:cxnLst>
    <dgm:cxn modelId="{CB25F709-335D-446F-A1C3-3BD0A4606BEF}" type="presOf" srcId="{10A467EB-9CD2-4DDA-963B-971357DD13A3}" destId="{0DA6F89B-477F-4D24-AA4A-9555D94973B5}" srcOrd="1" destOrd="2" presId="urn:microsoft.com/office/officeart/2005/8/layout/hProcess4"/>
    <dgm:cxn modelId="{0AF7BB1B-EC9F-490E-B60F-A108C3111B9C}" type="presOf" srcId="{7D9F76C7-2449-49BB-BFCA-6B437946E25F}" destId="{B3DF4635-AEEE-4CBB-9E54-BEF363CAC3A1}" srcOrd="0" destOrd="0" presId="urn:microsoft.com/office/officeart/2005/8/layout/hProcess4"/>
    <dgm:cxn modelId="{51DA291D-68D0-4116-AF41-0091246A4302}" type="presOf" srcId="{033E467D-9283-4E3A-B894-7F88F36A089E}" destId="{CC42A2BC-892C-42CF-8CA4-ABF6BB5182C2}" srcOrd="0" destOrd="1" presId="urn:microsoft.com/office/officeart/2005/8/layout/hProcess4"/>
    <dgm:cxn modelId="{E0DAED2D-6F90-47FF-B5D5-7E7E7131F82C}" type="presOf" srcId="{8300C327-2855-4747-84E6-DF937663B2D2}" destId="{299F8CEA-38EC-4A1F-8138-20A29CBD682F}" srcOrd="0" destOrd="0" presId="urn:microsoft.com/office/officeart/2005/8/layout/hProcess4"/>
    <dgm:cxn modelId="{443A4B32-C664-48E1-85D7-5E348E5F4D83}" type="presOf" srcId="{F9DAB3A0-62A2-485A-AD2E-CC87211012ED}" destId="{A03615B9-5846-41B8-90A7-F1CBBA75E601}" srcOrd="0" destOrd="0" presId="urn:microsoft.com/office/officeart/2005/8/layout/hProcess4"/>
    <dgm:cxn modelId="{A9F73335-09D4-400F-8CD4-A7E9F1C3C554}" type="presOf" srcId="{7C50315F-596E-4035-B080-1D0F13407B51}" destId="{692F72DC-3FFF-4630-AEA1-A5E2493271F9}" srcOrd="1" destOrd="0" presId="urn:microsoft.com/office/officeart/2005/8/layout/hProcess4"/>
    <dgm:cxn modelId="{BA8A125C-61B8-40BE-8A9C-A1C767AAAAC6}" srcId="{8300C327-2855-4747-84E6-DF937663B2D2}" destId="{10A467EB-9CD2-4DDA-963B-971357DD13A3}" srcOrd="2" destOrd="0" parTransId="{69036248-F61B-44FC-9FC7-B6F748971A72}" sibTransId="{49322AD3-B005-473E-9120-4543094A19CB}"/>
    <dgm:cxn modelId="{01D54D41-59D8-4117-B8BF-4F345EEB3BF3}" srcId="{3E71E3E9-B3E1-4F84-B4D5-7F4A6E003A31}" destId="{7C50315F-596E-4035-B080-1D0F13407B51}" srcOrd="0" destOrd="0" parTransId="{D5F54D7E-BD97-4D62-8FBF-C6743D7CE972}" sibTransId="{2F4B31F6-F680-4836-98A5-C7518503D648}"/>
    <dgm:cxn modelId="{9468C361-D303-489C-9099-CE7E0D30B176}" srcId="{8300C327-2855-4747-84E6-DF937663B2D2}" destId="{033E467D-9283-4E3A-B894-7F88F36A089E}" srcOrd="1" destOrd="0" parTransId="{6DB22218-EF1B-4969-9505-2715A343E625}" sibTransId="{6819878A-51A5-4992-A67F-9EF2BEC058B2}"/>
    <dgm:cxn modelId="{B6662467-74FE-45DB-8AE6-88AA1707684E}" type="presOf" srcId="{8F60C00D-DFC4-409A-9902-1EAB3A81BA60}" destId="{651C51BF-0F75-497C-84D3-0EAE2E7F08D9}" srcOrd="0" destOrd="0" presId="urn:microsoft.com/office/officeart/2005/8/layout/hProcess4"/>
    <dgm:cxn modelId="{F83AD34C-B764-4C6F-8F77-88D4174F708F}" type="presOf" srcId="{00C83BBF-F7C7-48C1-B95C-29C3C74566EC}" destId="{A5ADCBA9-886F-43E0-9DC8-A730F4DAD6AF}" srcOrd="0" destOrd="1" presId="urn:microsoft.com/office/officeart/2005/8/layout/hProcess4"/>
    <dgm:cxn modelId="{50B8D673-4D6C-44E7-8655-B5B7F09E590E}" type="presOf" srcId="{AC96F760-F86D-4958-8788-F8A556428D65}" destId="{26835EB4-8F6C-4883-8EA4-96647D4E4EC9}" srcOrd="0" destOrd="0" presId="urn:microsoft.com/office/officeart/2005/8/layout/hProcess4"/>
    <dgm:cxn modelId="{9FED347E-A856-48ED-9D7F-82772FF4E327}" type="presOf" srcId="{AACF529E-051E-4947-9CC6-9C4F65C02E29}" destId="{0DA6F89B-477F-4D24-AA4A-9555D94973B5}" srcOrd="1" destOrd="0" presId="urn:microsoft.com/office/officeart/2005/8/layout/hProcess4"/>
    <dgm:cxn modelId="{05AC1588-C88A-4C57-A4D8-3344B78D431F}" type="presOf" srcId="{CA07D17C-7871-4750-8721-BA61A5325DDD}" destId="{C4CF1B3C-0EFB-464C-A2AE-2D96F3B15833}" srcOrd="0" destOrd="0" presId="urn:microsoft.com/office/officeart/2005/8/layout/hProcess4"/>
    <dgm:cxn modelId="{F7095B8D-565C-458D-B609-8E502DE1DFFD}" type="presOf" srcId="{3E71E3E9-B3E1-4F84-B4D5-7F4A6E003A31}" destId="{D73BD206-16D2-480A-A995-194AC6211DCC}" srcOrd="0" destOrd="0" presId="urn:microsoft.com/office/officeart/2005/8/layout/hProcess4"/>
    <dgm:cxn modelId="{0591C196-33C8-4D53-810B-42918EB4A7CC}" srcId="{8300C327-2855-4747-84E6-DF937663B2D2}" destId="{AACF529E-051E-4947-9CC6-9C4F65C02E29}" srcOrd="0" destOrd="0" parTransId="{A5476B56-899A-435C-B39E-7AB7025CEAAA}" sibTransId="{8A044F0D-B95B-412C-ADD3-E166C0AF4CA9}"/>
    <dgm:cxn modelId="{3380FA9F-DC61-4BAD-B165-420AFFFE699A}" type="presOf" srcId="{AACF529E-051E-4947-9CC6-9C4F65C02E29}" destId="{CC42A2BC-892C-42CF-8CA4-ABF6BB5182C2}" srcOrd="0" destOrd="0" presId="urn:microsoft.com/office/officeart/2005/8/layout/hProcess4"/>
    <dgm:cxn modelId="{65EA59A4-800E-4DD9-BCA5-E282CDACA718}" type="presOf" srcId="{7C50315F-596E-4035-B080-1D0F13407B51}" destId="{A5ADCBA9-886F-43E0-9DC8-A730F4DAD6AF}" srcOrd="0" destOrd="0" presId="urn:microsoft.com/office/officeart/2005/8/layout/hProcess4"/>
    <dgm:cxn modelId="{C6FED6AA-B1EC-430D-B957-3BD917D7B3FC}" srcId="{8F60C00D-DFC4-409A-9902-1EAB3A81BA60}" destId="{3E71E3E9-B3E1-4F84-B4D5-7F4A6E003A31}" srcOrd="2" destOrd="0" parTransId="{2F0B2545-505D-443F-9AC2-53FF82B5D365}" sibTransId="{BD208353-8DF9-48B4-8DA4-CD1E8E6A3E07}"/>
    <dgm:cxn modelId="{095AB7C2-0526-4CD4-ACC9-AF62AE7F0508}" srcId="{AC96F760-F86D-4958-8788-F8A556428D65}" destId="{CA07D17C-7871-4750-8721-BA61A5325DDD}" srcOrd="0" destOrd="0" parTransId="{325B5D13-AFF4-45EA-B01A-457900BE5712}" sibTransId="{43E7CC38-6966-4A69-8BF9-C663F1AEBB5C}"/>
    <dgm:cxn modelId="{9ACD4BCA-02D0-4AAB-B899-94F16BF005B6}" type="presOf" srcId="{00C83BBF-F7C7-48C1-B95C-29C3C74566EC}" destId="{692F72DC-3FFF-4630-AEA1-A5E2493271F9}" srcOrd="1" destOrd="1" presId="urn:microsoft.com/office/officeart/2005/8/layout/hProcess4"/>
    <dgm:cxn modelId="{7D56E0DA-310A-4AD7-A1BA-F9AFF250F7FC}" srcId="{8F60C00D-DFC4-409A-9902-1EAB3A81BA60}" destId="{8300C327-2855-4747-84E6-DF937663B2D2}" srcOrd="0" destOrd="0" parTransId="{09FBA402-E90A-4C26-82E5-0AD6156559CA}" sibTransId="{F9DAB3A0-62A2-485A-AD2E-CC87211012ED}"/>
    <dgm:cxn modelId="{8141C9E8-34B7-41D7-B598-87B341468D30}" type="presOf" srcId="{033E467D-9283-4E3A-B894-7F88F36A089E}" destId="{0DA6F89B-477F-4D24-AA4A-9555D94973B5}" srcOrd="1" destOrd="1" presId="urn:microsoft.com/office/officeart/2005/8/layout/hProcess4"/>
    <dgm:cxn modelId="{782944EA-454F-46F7-BCEB-312C89673EBB}" srcId="{8F60C00D-DFC4-409A-9902-1EAB3A81BA60}" destId="{AC96F760-F86D-4958-8788-F8A556428D65}" srcOrd="1" destOrd="0" parTransId="{0DC433BD-84FD-418D-995B-DF66277C78A8}" sibTransId="{7D9F76C7-2449-49BB-BFCA-6B437946E25F}"/>
    <dgm:cxn modelId="{0072C8F5-5948-4289-AAD9-7AA352BB4453}" srcId="{3E71E3E9-B3E1-4F84-B4D5-7F4A6E003A31}" destId="{00C83BBF-F7C7-48C1-B95C-29C3C74566EC}" srcOrd="1" destOrd="0" parTransId="{C6B3FAD2-BA59-457A-BFAB-3587A590A6BA}" sibTransId="{2C000875-5ECA-4E25-AAE0-E677317EC66B}"/>
    <dgm:cxn modelId="{FC8CBFF8-AC30-4DA4-9C4E-20D80B2A4D61}" type="presOf" srcId="{10A467EB-9CD2-4DDA-963B-971357DD13A3}" destId="{CC42A2BC-892C-42CF-8CA4-ABF6BB5182C2}" srcOrd="0" destOrd="2" presId="urn:microsoft.com/office/officeart/2005/8/layout/hProcess4"/>
    <dgm:cxn modelId="{34BBE3FB-A726-4704-95EE-BCC3BB803A05}" type="presOf" srcId="{CA07D17C-7871-4750-8721-BA61A5325DDD}" destId="{D5FBBC5C-8163-47CF-8A8D-2A3FE7C54600}" srcOrd="1" destOrd="0" presId="urn:microsoft.com/office/officeart/2005/8/layout/hProcess4"/>
    <dgm:cxn modelId="{81508F1D-C4CF-4DC4-9956-806D66354236}" type="presParOf" srcId="{651C51BF-0F75-497C-84D3-0EAE2E7F08D9}" destId="{0CAC8BCA-D9A9-475B-9F67-FB65E6417544}" srcOrd="0" destOrd="0" presId="urn:microsoft.com/office/officeart/2005/8/layout/hProcess4"/>
    <dgm:cxn modelId="{65965072-D88B-4444-BEF9-BF6DDF3964D2}" type="presParOf" srcId="{651C51BF-0F75-497C-84D3-0EAE2E7F08D9}" destId="{A898D13B-6E74-45CB-95B8-6707196E6DD5}" srcOrd="1" destOrd="0" presId="urn:microsoft.com/office/officeart/2005/8/layout/hProcess4"/>
    <dgm:cxn modelId="{D4C3BF75-15D4-4B85-9783-D4668A1F0ADF}" type="presParOf" srcId="{651C51BF-0F75-497C-84D3-0EAE2E7F08D9}" destId="{63E4FFAF-2D23-4FCE-BA9C-C6CDA869F92B}" srcOrd="2" destOrd="0" presId="urn:microsoft.com/office/officeart/2005/8/layout/hProcess4"/>
    <dgm:cxn modelId="{28785685-3812-484C-B491-CD71B103AD17}" type="presParOf" srcId="{63E4FFAF-2D23-4FCE-BA9C-C6CDA869F92B}" destId="{1CF6A56B-D633-470A-8FB4-B420F6B5FC78}" srcOrd="0" destOrd="0" presId="urn:microsoft.com/office/officeart/2005/8/layout/hProcess4"/>
    <dgm:cxn modelId="{439CDADE-9E0A-46C4-A120-D12320D70F3E}" type="presParOf" srcId="{1CF6A56B-D633-470A-8FB4-B420F6B5FC78}" destId="{A3C2FD59-2E41-47C2-A24D-A0D68013A0AE}" srcOrd="0" destOrd="0" presId="urn:microsoft.com/office/officeart/2005/8/layout/hProcess4"/>
    <dgm:cxn modelId="{E3DD0309-B96F-45A8-A948-57EAB96358B8}" type="presParOf" srcId="{1CF6A56B-D633-470A-8FB4-B420F6B5FC78}" destId="{CC42A2BC-892C-42CF-8CA4-ABF6BB5182C2}" srcOrd="1" destOrd="0" presId="urn:microsoft.com/office/officeart/2005/8/layout/hProcess4"/>
    <dgm:cxn modelId="{94B0BB06-B80A-47FA-B85D-6599A96DB024}" type="presParOf" srcId="{1CF6A56B-D633-470A-8FB4-B420F6B5FC78}" destId="{0DA6F89B-477F-4D24-AA4A-9555D94973B5}" srcOrd="2" destOrd="0" presId="urn:microsoft.com/office/officeart/2005/8/layout/hProcess4"/>
    <dgm:cxn modelId="{C9851BC7-037E-48B1-80F6-4DA753C53E1A}" type="presParOf" srcId="{1CF6A56B-D633-470A-8FB4-B420F6B5FC78}" destId="{299F8CEA-38EC-4A1F-8138-20A29CBD682F}" srcOrd="3" destOrd="0" presId="urn:microsoft.com/office/officeart/2005/8/layout/hProcess4"/>
    <dgm:cxn modelId="{6F955C69-4BB4-4D31-AC95-033C3CBE9D57}" type="presParOf" srcId="{1CF6A56B-D633-470A-8FB4-B420F6B5FC78}" destId="{CBAB73FE-0A73-4FE2-B0AE-720DD05A080D}" srcOrd="4" destOrd="0" presId="urn:microsoft.com/office/officeart/2005/8/layout/hProcess4"/>
    <dgm:cxn modelId="{16736AD0-C120-42F0-9C5F-4D381CC55D6E}" type="presParOf" srcId="{63E4FFAF-2D23-4FCE-BA9C-C6CDA869F92B}" destId="{A03615B9-5846-41B8-90A7-F1CBBA75E601}" srcOrd="1" destOrd="0" presId="urn:microsoft.com/office/officeart/2005/8/layout/hProcess4"/>
    <dgm:cxn modelId="{8BBD8D5A-9ED7-444D-8084-3824BA3E5D19}" type="presParOf" srcId="{63E4FFAF-2D23-4FCE-BA9C-C6CDA869F92B}" destId="{5D14BFA4-4021-446A-89FC-96A0B9D7B3F5}" srcOrd="2" destOrd="0" presId="urn:microsoft.com/office/officeart/2005/8/layout/hProcess4"/>
    <dgm:cxn modelId="{E4D92701-6522-4AF5-86F8-F3DB7AECACD4}" type="presParOf" srcId="{5D14BFA4-4021-446A-89FC-96A0B9D7B3F5}" destId="{812C7F44-5E8E-4992-BB81-F03AA8F910B9}" srcOrd="0" destOrd="0" presId="urn:microsoft.com/office/officeart/2005/8/layout/hProcess4"/>
    <dgm:cxn modelId="{1BFD5835-64AF-41A3-9482-6D0260C53A3E}" type="presParOf" srcId="{5D14BFA4-4021-446A-89FC-96A0B9D7B3F5}" destId="{C4CF1B3C-0EFB-464C-A2AE-2D96F3B15833}" srcOrd="1" destOrd="0" presId="urn:microsoft.com/office/officeart/2005/8/layout/hProcess4"/>
    <dgm:cxn modelId="{5BB54940-6114-4EB2-80B5-4D0743A0F209}" type="presParOf" srcId="{5D14BFA4-4021-446A-89FC-96A0B9D7B3F5}" destId="{D5FBBC5C-8163-47CF-8A8D-2A3FE7C54600}" srcOrd="2" destOrd="0" presId="urn:microsoft.com/office/officeart/2005/8/layout/hProcess4"/>
    <dgm:cxn modelId="{1E65C5D9-8A5E-4FAD-84C0-B696AD56E948}" type="presParOf" srcId="{5D14BFA4-4021-446A-89FC-96A0B9D7B3F5}" destId="{26835EB4-8F6C-4883-8EA4-96647D4E4EC9}" srcOrd="3" destOrd="0" presId="urn:microsoft.com/office/officeart/2005/8/layout/hProcess4"/>
    <dgm:cxn modelId="{1EBE3542-1264-4C91-88EB-1D2E3553B6C7}" type="presParOf" srcId="{5D14BFA4-4021-446A-89FC-96A0B9D7B3F5}" destId="{96F099F8-3315-41BB-B19A-12D3AC51D28D}" srcOrd="4" destOrd="0" presId="urn:microsoft.com/office/officeart/2005/8/layout/hProcess4"/>
    <dgm:cxn modelId="{86AB7D25-00CD-4453-B233-5E37E7A3D893}" type="presParOf" srcId="{63E4FFAF-2D23-4FCE-BA9C-C6CDA869F92B}" destId="{B3DF4635-AEEE-4CBB-9E54-BEF363CAC3A1}" srcOrd="3" destOrd="0" presId="urn:microsoft.com/office/officeart/2005/8/layout/hProcess4"/>
    <dgm:cxn modelId="{F8E595A6-620D-4300-9CC1-9626585DF63F}" type="presParOf" srcId="{63E4FFAF-2D23-4FCE-BA9C-C6CDA869F92B}" destId="{122B1349-E8D2-4DDC-8937-9525C51A5539}" srcOrd="4" destOrd="0" presId="urn:microsoft.com/office/officeart/2005/8/layout/hProcess4"/>
    <dgm:cxn modelId="{FBE9DDC4-2476-4695-B469-704434D68275}" type="presParOf" srcId="{122B1349-E8D2-4DDC-8937-9525C51A5539}" destId="{962F49D1-17A6-4738-A758-8248388CE13A}" srcOrd="0" destOrd="0" presId="urn:microsoft.com/office/officeart/2005/8/layout/hProcess4"/>
    <dgm:cxn modelId="{A6CDF123-6D49-45B8-9EF5-99228C6AAFAD}" type="presParOf" srcId="{122B1349-E8D2-4DDC-8937-9525C51A5539}" destId="{A5ADCBA9-886F-43E0-9DC8-A730F4DAD6AF}" srcOrd="1" destOrd="0" presId="urn:microsoft.com/office/officeart/2005/8/layout/hProcess4"/>
    <dgm:cxn modelId="{F03F02B1-363A-42B7-8BFF-93026F09405E}" type="presParOf" srcId="{122B1349-E8D2-4DDC-8937-9525C51A5539}" destId="{692F72DC-3FFF-4630-AEA1-A5E2493271F9}" srcOrd="2" destOrd="0" presId="urn:microsoft.com/office/officeart/2005/8/layout/hProcess4"/>
    <dgm:cxn modelId="{73EAE647-9809-4D22-95A1-C28644842CC6}" type="presParOf" srcId="{122B1349-E8D2-4DDC-8937-9525C51A5539}" destId="{D73BD206-16D2-480A-A995-194AC6211DCC}" srcOrd="3" destOrd="0" presId="urn:microsoft.com/office/officeart/2005/8/layout/hProcess4"/>
    <dgm:cxn modelId="{DA1C6B7E-04BB-41C1-B068-180EAB650A7E}" type="presParOf" srcId="{122B1349-E8D2-4DDC-8937-9525C51A5539}" destId="{3F006AA4-891A-41FF-B89F-DE6C2B6217A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2A2BC-892C-42CF-8CA4-ABF6BB5182C2}">
      <dsp:nvSpPr>
        <dsp:cNvPr id="0" name=""/>
        <dsp:cNvSpPr/>
      </dsp:nvSpPr>
      <dsp:spPr>
        <a:xfrm>
          <a:off x="721" y="1495422"/>
          <a:ext cx="3320432" cy="24091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9A03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114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b="1" kern="1200" dirty="0"/>
            <a:t>Review:</a:t>
          </a:r>
          <a:r>
            <a:rPr lang="en-US" sz="1600" kern="1200" dirty="0"/>
            <a:t> Academic literature concerning technostress and AI anxiety were referred </a:t>
          </a:r>
          <a:r>
            <a:rPr lang="en-US" sz="1600" i="1" kern="1200" dirty="0"/>
            <a:t>(below)</a:t>
          </a:r>
          <a:r>
            <a:rPr lang="en-US" sz="1600" kern="1200" dirty="0"/>
            <a:t>.</a:t>
          </a:r>
          <a:endParaRPr lang="en-IN" sz="1600" kern="1200" dirty="0"/>
        </a:p>
        <a:p>
          <a:pPr marL="171450" lvl="1" indent="-171450" algn="l" defTabSz="711200">
            <a:lnSpc>
              <a:spcPct val="114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b="1" kern="1200" dirty="0"/>
            <a:t>Questions:</a:t>
          </a:r>
          <a:r>
            <a:rPr lang="en-US" sz="1600" kern="1200" dirty="0"/>
            <a:t> Based on it, 10 deep qualitative questions were formed.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</dsp:txBody>
      <dsp:txXfrm>
        <a:off x="56162" y="1550863"/>
        <a:ext cx="3209550" cy="1782013"/>
      </dsp:txXfrm>
    </dsp:sp>
    <dsp:sp modelId="{A03615B9-5846-41B8-90A7-F1CBBA75E601}">
      <dsp:nvSpPr>
        <dsp:cNvPr id="0" name=""/>
        <dsp:cNvSpPr/>
      </dsp:nvSpPr>
      <dsp:spPr>
        <a:xfrm>
          <a:off x="1825794" y="1125680"/>
          <a:ext cx="3570674" cy="3570674"/>
        </a:xfrm>
        <a:prstGeom prst="leftCircularArrow">
          <a:avLst>
            <a:gd name="adj1" fmla="val 2892"/>
            <a:gd name="adj2" fmla="val 353741"/>
            <a:gd name="adj3" fmla="val 2415263"/>
            <a:gd name="adj4" fmla="val 9310500"/>
            <a:gd name="adj5" fmla="val 3374"/>
          </a:avLst>
        </a:prstGeom>
        <a:solidFill>
          <a:srgbClr val="E7D399"/>
        </a:solidFill>
        <a:ln>
          <a:solidFill>
            <a:srgbClr val="C9A03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F8CEA-38EC-4A1F-8138-20A29CBD682F}">
      <dsp:nvSpPr>
        <dsp:cNvPr id="0" name=""/>
        <dsp:cNvSpPr/>
      </dsp:nvSpPr>
      <dsp:spPr>
        <a:xfrm>
          <a:off x="1037079" y="3545378"/>
          <a:ext cx="2110460" cy="545386"/>
        </a:xfrm>
        <a:prstGeom prst="roundRect">
          <a:avLst>
            <a:gd name="adj" fmla="val 10000"/>
          </a:avLst>
        </a:prstGeom>
        <a:solidFill>
          <a:srgbClr val="7A1F1A"/>
        </a:solidFill>
        <a:ln w="25400" cap="flat" cmpd="sng" algn="ctr">
          <a:solidFill>
            <a:srgbClr val="C9A03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Literature Review</a:t>
          </a:r>
          <a:endParaRPr lang="en-IN" sz="1800" b="0" i="0" kern="1200" dirty="0"/>
        </a:p>
      </dsp:txBody>
      <dsp:txXfrm>
        <a:off x="1053053" y="3561352"/>
        <a:ext cx="2078512" cy="513438"/>
      </dsp:txXfrm>
    </dsp:sp>
    <dsp:sp modelId="{C4CF1B3C-0EFB-464C-A2AE-2D96F3B15833}">
      <dsp:nvSpPr>
        <dsp:cNvPr id="0" name=""/>
        <dsp:cNvSpPr/>
      </dsp:nvSpPr>
      <dsp:spPr>
        <a:xfrm>
          <a:off x="3846808" y="1564160"/>
          <a:ext cx="3492860" cy="2270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9A03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114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b="1" kern="1200" dirty="0"/>
            <a:t>Selection</a:t>
          </a:r>
          <a:r>
            <a:rPr lang="en-US" sz="1600" kern="1200" dirty="0"/>
            <a:t>: Participants with ranging experiences from the IT industry, which happen to be one of the most affected with AI automation, were selected and interviewed.</a:t>
          </a:r>
          <a:endParaRPr lang="en-IN" sz="1600" kern="1200" dirty="0"/>
        </a:p>
      </dsp:txBody>
      <dsp:txXfrm>
        <a:off x="3899065" y="2103014"/>
        <a:ext cx="3388346" cy="1679675"/>
      </dsp:txXfrm>
    </dsp:sp>
    <dsp:sp modelId="{B3DF4635-AEEE-4CBB-9E54-BEF363CAC3A1}">
      <dsp:nvSpPr>
        <dsp:cNvPr id="0" name=""/>
        <dsp:cNvSpPr/>
      </dsp:nvSpPr>
      <dsp:spPr>
        <a:xfrm>
          <a:off x="5839571" y="684503"/>
          <a:ext cx="3936761" cy="3936761"/>
        </a:xfrm>
        <a:prstGeom prst="circularArrow">
          <a:avLst>
            <a:gd name="adj1" fmla="val 2623"/>
            <a:gd name="adj2" fmla="val 318837"/>
            <a:gd name="adj3" fmla="val 19130640"/>
            <a:gd name="adj4" fmla="val 12200499"/>
            <a:gd name="adj5" fmla="val 3061"/>
          </a:avLst>
        </a:prstGeom>
        <a:solidFill>
          <a:srgbClr val="E7D399"/>
        </a:solidFill>
        <a:ln>
          <a:solidFill>
            <a:srgbClr val="C9A03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35EB4-8F6C-4883-8EA4-96647D4E4EC9}">
      <dsp:nvSpPr>
        <dsp:cNvPr id="0" name=""/>
        <dsp:cNvSpPr/>
      </dsp:nvSpPr>
      <dsp:spPr>
        <a:xfrm>
          <a:off x="5095322" y="1418407"/>
          <a:ext cx="2016133" cy="589139"/>
        </a:xfrm>
        <a:prstGeom prst="roundRect">
          <a:avLst>
            <a:gd name="adj" fmla="val 10000"/>
          </a:avLst>
        </a:prstGeom>
        <a:solidFill>
          <a:srgbClr val="7A1F1A"/>
        </a:solidFill>
        <a:ln w="25400" cap="flat" cmpd="sng" algn="ctr">
          <a:solidFill>
            <a:srgbClr val="C9A03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Data Collection</a:t>
          </a:r>
          <a:endParaRPr lang="en-IN" sz="1800" b="0" i="0" kern="1200" dirty="0"/>
        </a:p>
      </dsp:txBody>
      <dsp:txXfrm>
        <a:off x="5112577" y="1435662"/>
        <a:ext cx="1981623" cy="554629"/>
      </dsp:txXfrm>
    </dsp:sp>
    <dsp:sp modelId="{A5ADCBA9-886F-43E0-9DC8-A730F4DAD6AF}">
      <dsp:nvSpPr>
        <dsp:cNvPr id="0" name=""/>
        <dsp:cNvSpPr/>
      </dsp:nvSpPr>
      <dsp:spPr>
        <a:xfrm>
          <a:off x="7831444" y="1592901"/>
          <a:ext cx="3548137" cy="2213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9A03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114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b="1" kern="1200" dirty="0"/>
            <a:t>Mapping: </a:t>
          </a:r>
          <a:r>
            <a:rPr lang="en-US" sz="1600" kern="1200" dirty="0"/>
            <a:t>Process mapping of user interaction, behavioral breakdown and professional performance under compressed timelines, with agentic automation, tools and behaviors.</a:t>
          </a:r>
          <a:endParaRPr lang="en-IN" sz="16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500" kern="1200" dirty="0"/>
        </a:p>
      </dsp:txBody>
      <dsp:txXfrm>
        <a:off x="7882378" y="1643835"/>
        <a:ext cx="3446269" cy="1637157"/>
      </dsp:txXfrm>
    </dsp:sp>
    <dsp:sp modelId="{D73BD206-16D2-480A-A995-194AC6211DCC}">
      <dsp:nvSpPr>
        <dsp:cNvPr id="0" name=""/>
        <dsp:cNvSpPr/>
      </dsp:nvSpPr>
      <dsp:spPr>
        <a:xfrm>
          <a:off x="9108176" y="3406264"/>
          <a:ext cx="2076479" cy="594793"/>
        </a:xfrm>
        <a:prstGeom prst="roundRect">
          <a:avLst>
            <a:gd name="adj" fmla="val 10000"/>
          </a:avLst>
        </a:prstGeom>
        <a:solidFill>
          <a:srgbClr val="7A1F1A"/>
        </a:solidFill>
        <a:ln w="25400" cap="flat" cmpd="sng" algn="ctr">
          <a:solidFill>
            <a:srgbClr val="C9A03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Thematic Coding</a:t>
          </a:r>
          <a:endParaRPr lang="en-IN" sz="1800" b="0" i="0" kern="1200" dirty="0"/>
        </a:p>
      </dsp:txBody>
      <dsp:txXfrm>
        <a:off x="9125597" y="3423685"/>
        <a:ext cx="2041637" cy="5599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DCB5E-EA76-4B54-B858-2652EDCFD1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4AC4C-7457-4457-9775-8703BA00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68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3C7F-DC10-4D8B-9026-3AFC37EB0EFA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9FE5-0110-4BE3-AF76-CF56873ED9FC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905C-D1EE-4C66-B9A8-1F764A201963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430B-76F2-4F5F-BA31-66ECAB83E431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801B-7C63-44FB-96CE-33EA567B60FB}" type="datetime1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92A32-FA9A-49DD-8DF4-7C27EB0B47F1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6771-7137-40BC-A905-C9AB9A58E861}" type="datetime1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3A4FA-5F78-4429-A7D3-CAFD12BDD0B0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BA19-1EA3-49FA-94D9-C877794CD386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C4D4-25A0-45DF-AFB6-12A13095EEE1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8F808-EEA1-4BEB-8DFC-4FC045FF4323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29E0E-26A8-4BFD-96A5-641066A27761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602.23279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hyperlink" Target="https://doi.org/10.3390/bs1504040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hyperlink" Target="https://doi.org/10.3390/ijerph20065147" TargetMode="External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s://ijip.in/wp-content/uploads/2025/04/18.01.083.20251302-1.pdf" TargetMode="External"/><Relationship Id="rId4" Type="http://schemas.openxmlformats.org/officeDocument/2006/relationships/diagramLayout" Target="../diagrams/layout1.xml"/><Relationship Id="rId9" Type="http://schemas.openxmlformats.org/officeDocument/2006/relationships/hyperlink" Target="https://ijip.i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7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C9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it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9728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676646"/>
            <a:ext cx="40233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INDIAN INSTITUTE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42406"/>
            <a:ext cx="40233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MADRAS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754880"/>
            <a:ext cx="40233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>
                <a:solidFill>
                  <a:srgbClr val="FAF4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BS in Data Science &amp;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74920"/>
            <a:ext cx="40233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400" b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SPG</a:t>
            </a:r>
            <a:r>
              <a:rPr sz="1400" b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Project </a:t>
            </a:r>
            <a:r>
              <a:rPr lang="en-US" sz="1400" b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May</a:t>
            </a:r>
            <a:r>
              <a:rPr sz="1400" b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280160"/>
            <a:ext cx="65836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>
                <a:solidFill>
                  <a:srgbClr val="C9A030"/>
                </a:solidFill>
                <a:latin typeface="Calibri"/>
              </a:rPr>
              <a:t>GP-</a:t>
            </a:r>
            <a:r>
              <a:rPr lang="en-US" sz="1600" b="1" dirty="0">
                <a:solidFill>
                  <a:srgbClr val="C9A030"/>
                </a:solidFill>
                <a:latin typeface="Calibri"/>
              </a:rPr>
              <a:t>2</a:t>
            </a:r>
            <a:r>
              <a:rPr sz="1600" b="1" dirty="0">
                <a:solidFill>
                  <a:srgbClr val="C9A030"/>
                </a:solidFill>
                <a:latin typeface="Calibri"/>
              </a:rPr>
              <a:t>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91640"/>
            <a:ext cx="6583680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3400" b="1" dirty="0">
                <a:solidFill>
                  <a:srgbClr val="7A1F1A"/>
                </a:solidFill>
                <a:latin typeface="Calibri"/>
              </a:rPr>
              <a:t>Navigating Algorithmic Anxiety</a:t>
            </a:r>
            <a:endParaRPr sz="3400" b="1" dirty="0">
              <a:solidFill>
                <a:srgbClr val="7A1F1A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3383280"/>
            <a:ext cx="1097280" cy="54864"/>
          </a:xfrm>
          <a:prstGeom prst="rect">
            <a:avLst/>
          </a:prstGeom>
          <a:solidFill>
            <a:srgbClr val="C9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303520" y="3520440"/>
            <a:ext cx="658368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1400" dirty="0">
                <a:solidFill>
                  <a:srgbClr val="2B1B17"/>
                </a:solidFill>
                <a:latin typeface="Calibri"/>
              </a:rPr>
              <a:t>Methodology</a:t>
            </a:r>
            <a:r>
              <a:rPr sz="1400" b="0" dirty="0">
                <a:solidFill>
                  <a:srgbClr val="2B1B17"/>
                </a:solidFill>
                <a:latin typeface="Calibri"/>
              </a:rPr>
              <a:t>, </a:t>
            </a:r>
            <a:r>
              <a:rPr lang="en-US" sz="1400" b="0" dirty="0">
                <a:solidFill>
                  <a:srgbClr val="2B1B17"/>
                </a:solidFill>
                <a:latin typeface="Calibri"/>
              </a:rPr>
              <a:t>Analysis</a:t>
            </a:r>
            <a:r>
              <a:rPr sz="1400" b="0" dirty="0">
                <a:solidFill>
                  <a:srgbClr val="2B1B17"/>
                </a:solidFill>
                <a:latin typeface="Calibri"/>
              </a:rPr>
              <a:t> &amp; </a:t>
            </a:r>
            <a:r>
              <a:rPr lang="en-US" sz="1400" b="0" dirty="0">
                <a:solidFill>
                  <a:srgbClr val="2B1B17"/>
                </a:solidFill>
                <a:latin typeface="Calibri"/>
              </a:rPr>
              <a:t>Recommendations, Influence Model, Project Review &amp; Closure</a:t>
            </a:r>
            <a:endParaRPr sz="1400" b="0" dirty="0">
              <a:solidFill>
                <a:srgbClr val="2B1B17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03520" y="4297680"/>
            <a:ext cx="6400800" cy="176868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4297680"/>
            <a:ext cx="109728" cy="1768688"/>
          </a:xfrm>
          <a:prstGeom prst="rect">
            <a:avLst/>
          </a:prstGeom>
          <a:solidFill>
            <a:srgbClr val="7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4434840"/>
            <a:ext cx="2194560" cy="2539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dirty="0">
                <a:solidFill>
                  <a:srgbClr val="7A1F1A"/>
                </a:solidFill>
                <a:latin typeface="Calibri"/>
              </a:rPr>
              <a:t>Team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3840480" cy="2539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dirty="0">
                <a:solidFill>
                  <a:srgbClr val="2B1B17"/>
                </a:solidFill>
                <a:latin typeface="Calibri"/>
              </a:rPr>
              <a:t>Team </a:t>
            </a:r>
            <a:r>
              <a:rPr lang="en-US" sz="1200" b="0" dirty="0">
                <a:solidFill>
                  <a:srgbClr val="2B1B17"/>
                </a:solidFill>
                <a:latin typeface="Calibri"/>
              </a:rPr>
              <a:t>52</a:t>
            </a:r>
            <a:endParaRPr sz="1200" b="0" dirty="0">
              <a:solidFill>
                <a:srgbClr val="2B1B17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32120" y="4764024"/>
            <a:ext cx="2194560" cy="2539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dirty="0">
                <a:solidFill>
                  <a:srgbClr val="7A1F1A"/>
                </a:solidFill>
                <a:latin typeface="Calibri"/>
              </a:rPr>
              <a:t>Project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64024"/>
            <a:ext cx="3840480" cy="2539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200" b="0" dirty="0">
                <a:solidFill>
                  <a:srgbClr val="2B1B17"/>
                </a:solidFill>
                <a:latin typeface="Calibri"/>
              </a:rPr>
              <a:t>Navigating Algorithmic Anxiety</a:t>
            </a:r>
            <a:endParaRPr sz="1200" b="0" dirty="0">
              <a:solidFill>
                <a:srgbClr val="2B1B17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32120" y="5093207"/>
            <a:ext cx="2194560" cy="2539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>
                <a:solidFill>
                  <a:srgbClr val="7A1F1A"/>
                </a:solidFill>
                <a:latin typeface="Calibri"/>
              </a:rPr>
              <a:t>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093207"/>
            <a:ext cx="3840480" cy="4644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rgbClr val="2B1B17"/>
                </a:solidFill>
                <a:latin typeface="Calibri"/>
              </a:rPr>
              <a:t>Resilience</a:t>
            </a:r>
            <a:r>
              <a:rPr lang="en-IN" sz="1200" dirty="0">
                <a:solidFill>
                  <a:srgbClr val="2B1B17"/>
                </a:solidFill>
              </a:rPr>
              <a:t> • </a:t>
            </a:r>
            <a:r>
              <a:rPr lang="en-US" sz="1200" dirty="0">
                <a:solidFill>
                  <a:srgbClr val="2B1B17"/>
                </a:solidFill>
                <a:latin typeface="Calibri"/>
              </a:rPr>
              <a:t>Technological Literacy</a:t>
            </a:r>
            <a:r>
              <a:rPr sz="1200" b="0" dirty="0">
                <a:solidFill>
                  <a:srgbClr val="2B1B17"/>
                </a:solidFill>
                <a:latin typeface="Calibri"/>
              </a:rPr>
              <a:t> •</a:t>
            </a:r>
            <a:r>
              <a:rPr lang="en-US" sz="1200" b="0" dirty="0">
                <a:solidFill>
                  <a:srgbClr val="2B1B17"/>
                </a:solidFill>
                <a:latin typeface="Calibri"/>
              </a:rPr>
              <a:t> Lifelong Learning</a:t>
            </a:r>
            <a:r>
              <a:rPr sz="1200" b="0" dirty="0">
                <a:solidFill>
                  <a:srgbClr val="2B1B17"/>
                </a:solidFill>
                <a:latin typeface="Calibri"/>
              </a:rPr>
              <a:t> </a:t>
            </a:r>
            <a:r>
              <a:rPr lang="en-IN" sz="1200" dirty="0">
                <a:solidFill>
                  <a:srgbClr val="2B1B17"/>
                </a:solidFill>
              </a:rPr>
              <a:t>• </a:t>
            </a:r>
            <a:r>
              <a:rPr lang="en-US" sz="1200" b="0" dirty="0">
                <a:solidFill>
                  <a:srgbClr val="2B1B17"/>
                </a:solidFill>
                <a:latin typeface="Calibri"/>
              </a:rPr>
              <a:t>Stress Management</a:t>
            </a:r>
            <a:r>
              <a:rPr sz="1200" b="0" dirty="0">
                <a:solidFill>
                  <a:srgbClr val="2B1B17"/>
                </a:solidFill>
                <a:latin typeface="Calibri"/>
              </a:rPr>
              <a:t> • </a:t>
            </a:r>
            <a:r>
              <a:rPr lang="en-US" sz="1200" b="0" dirty="0">
                <a:solidFill>
                  <a:srgbClr val="2B1B17"/>
                </a:solidFill>
                <a:latin typeface="Calibri"/>
              </a:rPr>
              <a:t>Growth Mindset</a:t>
            </a:r>
            <a:endParaRPr sz="1200" b="0" dirty="0">
              <a:solidFill>
                <a:srgbClr val="2B1B17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32120" y="5642525"/>
            <a:ext cx="2194560" cy="2539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>
                <a:solidFill>
                  <a:srgbClr val="7A1F1A"/>
                </a:solidFill>
                <a:latin typeface="Calibri"/>
              </a:rPr>
              <a:t>Submission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642525"/>
            <a:ext cx="3840480" cy="2539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200" dirty="0">
                <a:solidFill>
                  <a:srgbClr val="2B1B17"/>
                </a:solidFill>
                <a:latin typeface="Calibri"/>
              </a:rPr>
              <a:t>25</a:t>
            </a:r>
            <a:r>
              <a:rPr lang="en-US" sz="1200" baseline="30000" dirty="0">
                <a:solidFill>
                  <a:srgbClr val="2B1B17"/>
                </a:solidFill>
                <a:latin typeface="Calibri"/>
              </a:rPr>
              <a:t>th</a:t>
            </a:r>
            <a:r>
              <a:rPr lang="en-US" sz="1200" dirty="0">
                <a:solidFill>
                  <a:srgbClr val="2B1B17"/>
                </a:solidFill>
                <a:latin typeface="Calibri"/>
              </a:rPr>
              <a:t> J</a:t>
            </a:r>
            <a:r>
              <a:rPr lang="en-US" sz="1200" b="0" dirty="0">
                <a:solidFill>
                  <a:srgbClr val="2B1B17"/>
                </a:solidFill>
                <a:latin typeface="Calibri"/>
              </a:rPr>
              <a:t>uly </a:t>
            </a:r>
            <a:r>
              <a:rPr sz="1200" b="0" dirty="0">
                <a:solidFill>
                  <a:srgbClr val="2B1B17"/>
                </a:solidFill>
                <a:latin typeface="Calibri"/>
              </a:rPr>
              <a:t>2026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F1533C-BD6A-CF51-5459-21096321F971}"/>
              </a:ext>
            </a:extLst>
          </p:cNvPr>
          <p:cNvSpPr txBox="1"/>
          <p:nvPr/>
        </p:nvSpPr>
        <p:spPr>
          <a:xfrm>
            <a:off x="5303520" y="2271760"/>
            <a:ext cx="658368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lang="en-US" i="1" dirty="0">
                <a:solidFill>
                  <a:srgbClr val="7A1F1A"/>
                </a:solidFill>
              </a:rPr>
              <a:t>Evaluating the Role of a Growth Mindset in Managing Workplace Stress and Skill Obsolescence in the Age of Generative AI.</a:t>
            </a:r>
            <a:endParaRPr i="1" dirty="0">
              <a:solidFill>
                <a:srgbClr val="7A1F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F322-6E12-ECAA-05D9-6424876B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849D0B2-A9BF-B027-43F7-4CAAEE285AF8}"/>
              </a:ext>
            </a:extLst>
          </p:cNvPr>
          <p:cNvGrpSpPr/>
          <p:nvPr/>
        </p:nvGrpSpPr>
        <p:grpSpPr>
          <a:xfrm>
            <a:off x="-2258" y="0"/>
            <a:ext cx="12193953" cy="6858000"/>
            <a:chOff x="-2258" y="0"/>
            <a:chExt cx="12193953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13D3996-E73A-C4B6-AC89-369DBE6439EA}"/>
                </a:ext>
              </a:extLst>
            </p:cNvPr>
            <p:cNvSpPr/>
            <p:nvPr/>
          </p:nvSpPr>
          <p:spPr>
            <a:xfrm>
              <a:off x="-2258" y="0"/>
              <a:ext cx="12191695" cy="6858000"/>
            </a:xfrm>
            <a:prstGeom prst="rect">
              <a:avLst/>
            </a:prstGeom>
            <a:solidFill>
              <a:srgbClr val="FAF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F95878E-3B87-7414-93DD-9FE25C0ACB12}"/>
                </a:ext>
              </a:extLst>
            </p:cNvPr>
            <p:cNvSpPr/>
            <p:nvPr/>
          </p:nvSpPr>
          <p:spPr>
            <a:xfrm>
              <a:off x="0" y="0"/>
              <a:ext cx="12191695" cy="82296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7ECD566-981B-984B-E058-2902D8B60129}"/>
                </a:ext>
              </a:extLst>
            </p:cNvPr>
            <p:cNvSpPr/>
            <p:nvPr/>
          </p:nvSpPr>
          <p:spPr>
            <a:xfrm>
              <a:off x="0" y="822960"/>
              <a:ext cx="12191695" cy="73152"/>
            </a:xfrm>
            <a:prstGeom prst="rect">
              <a:avLst/>
            </a:prstGeom>
            <a:solidFill>
              <a:srgbClr val="C9A0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" name="Picture 4" descr="iitm_logo.png">
              <a:extLst>
                <a:ext uri="{FF2B5EF4-FFF2-40B4-BE49-F238E27FC236}">
                  <a16:creationId xmlns:a16="http://schemas.microsoft.com/office/drawing/2014/main" id="{52D06CA3-4A25-9B76-A0E1-C0AFD740F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91440"/>
              <a:ext cx="640080" cy="6400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24474C-5982-18CE-835D-CFC8FC586DCC}"/>
                </a:ext>
              </a:extLst>
            </p:cNvPr>
            <p:cNvSpPr txBox="1"/>
            <p:nvPr/>
          </p:nvSpPr>
          <p:spPr>
            <a:xfrm>
              <a:off x="1005840" y="103102"/>
              <a:ext cx="9144000" cy="424732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Methodology</a:t>
              </a:r>
              <a:endParaRPr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D236FB-E869-3798-41AC-6E3457CF4024}"/>
                </a:ext>
              </a:extLst>
            </p:cNvPr>
            <p:cNvSpPr txBox="1"/>
            <p:nvPr/>
          </p:nvSpPr>
          <p:spPr>
            <a:xfrm>
              <a:off x="1005840" y="457200"/>
              <a:ext cx="91440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200" b="0" i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How was the study conducted</a:t>
              </a:r>
              <a:endParaRPr sz="1200" b="0" i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3E1AFF-5482-FC39-10A2-9E0FF9285F2E}"/>
                </a:ext>
              </a:extLst>
            </p:cNvPr>
            <p:cNvSpPr txBox="1"/>
            <p:nvPr/>
          </p:nvSpPr>
          <p:spPr>
            <a:xfrm>
              <a:off x="10241280" y="274320"/>
              <a:ext cx="18288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GP-</a:t>
              </a:r>
              <a:r>
                <a:rPr lang="en-US"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2</a:t>
              </a:r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 Submission</a:t>
              </a:r>
            </a:p>
          </p:txBody>
        </p:sp>
      </p:grp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C62075E-85C5-5A18-F4D6-F2F948CBD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510083"/>
              </p:ext>
            </p:extLst>
          </p:nvPr>
        </p:nvGraphicFramePr>
        <p:xfrm>
          <a:off x="405848" y="460090"/>
          <a:ext cx="11380304" cy="5399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866C6E2-8839-7D6D-E9B6-2341807D188D}"/>
              </a:ext>
            </a:extLst>
          </p:cNvPr>
          <p:cNvSpPr txBox="1"/>
          <p:nvPr/>
        </p:nvSpPr>
        <p:spPr>
          <a:xfrm>
            <a:off x="405848" y="5437127"/>
            <a:ext cx="11380304" cy="99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algn="just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b="1" dirty="0"/>
              <a:t>Reich et al. (2026),</a:t>
            </a:r>
            <a:r>
              <a:rPr lang="en-US" sz="1300" b="1" i="1" dirty="0"/>
              <a:t> </a:t>
            </a:r>
            <a:r>
              <a:rPr lang="en-US" sz="1300" i="1" dirty="0"/>
              <a:t>Psychological Safety as the Key to AI Transformation </a:t>
            </a:r>
            <a:r>
              <a:rPr lang="en-US" sz="1300" dirty="0"/>
              <a:t>(</a:t>
            </a:r>
            <a:r>
              <a:rPr lang="en-US" sz="1300" dirty="0" err="1"/>
              <a:t>arXiv</a:t>
            </a:r>
            <a:r>
              <a:rPr lang="en-US" sz="1300" dirty="0"/>
              <a:t>)</a:t>
            </a:r>
            <a:r>
              <a:rPr lang="en-US" sz="1300" b="1" i="1" dirty="0"/>
              <a:t> </a:t>
            </a:r>
            <a:r>
              <a:rPr lang="en-US" sz="1300" i="1" dirty="0">
                <a:hlinkClick r:id="rId8"/>
              </a:rPr>
              <a:t>https://arxiv.org/abs/2602.23279</a:t>
            </a:r>
            <a:endParaRPr lang="en-US" sz="1300" b="1" i="1" dirty="0"/>
          </a:p>
          <a:p>
            <a:pPr marL="182563" indent="-182563" algn="just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b="1" dirty="0"/>
              <a:t>Sinha &amp; Sharma (2025),</a:t>
            </a:r>
            <a:r>
              <a:rPr lang="en-US" sz="1300" b="1" i="1" dirty="0"/>
              <a:t> </a:t>
            </a:r>
            <a:r>
              <a:rPr lang="en-US" sz="1300" i="1" dirty="0"/>
              <a:t>Artificial Intelligence and the Perception of Workplace Stress </a:t>
            </a:r>
            <a:r>
              <a:rPr lang="en-US" sz="1300" dirty="0"/>
              <a:t>(IJIP)</a:t>
            </a:r>
            <a:r>
              <a:rPr lang="en-US" sz="1300" b="1" i="1" dirty="0"/>
              <a:t> </a:t>
            </a:r>
            <a:r>
              <a:rPr lang="en-US" sz="1300" i="1" dirty="0">
                <a:hlinkClick r:id="rId9"/>
              </a:rPr>
              <a:t>https://ijip.in/</a:t>
            </a:r>
            <a:r>
              <a:rPr lang="en-US" sz="1300" i="1" dirty="0">
                <a:hlinkClick r:id="rId10"/>
              </a:rPr>
              <a:t>wp-content/uploads/2025/04/18.01.083.20251302-1.pdf</a:t>
            </a:r>
            <a:endParaRPr lang="en-US" sz="1300" b="1" i="1" dirty="0"/>
          </a:p>
          <a:p>
            <a:pPr marL="182563" indent="-182563" algn="just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b="1" dirty="0"/>
              <a:t>Xu et al. (2023),</a:t>
            </a:r>
            <a:r>
              <a:rPr lang="en-US" sz="1300" b="1" i="1" dirty="0"/>
              <a:t> </a:t>
            </a:r>
            <a:r>
              <a:rPr lang="en-US" sz="1300" i="1" dirty="0"/>
              <a:t>AI Awareness and Employee Depression </a:t>
            </a:r>
            <a:r>
              <a:rPr lang="en-US" sz="1300" dirty="0"/>
              <a:t>(IJERPH)</a:t>
            </a:r>
            <a:r>
              <a:rPr lang="en-US" sz="1300" i="1" dirty="0"/>
              <a:t> </a:t>
            </a:r>
            <a:r>
              <a:rPr lang="en-US" sz="1300" i="1" dirty="0">
                <a:hlinkClick r:id="rId11"/>
              </a:rPr>
              <a:t>https://doi.org/10.3390/ijerph20065147</a:t>
            </a:r>
            <a:endParaRPr lang="en-US" sz="1300" b="1" i="1" dirty="0"/>
          </a:p>
          <a:p>
            <a:pPr marL="182563" indent="-182563" algn="just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b="1" dirty="0"/>
              <a:t>Zheng (2025), </a:t>
            </a:r>
            <a:r>
              <a:rPr lang="en-US" sz="1300" i="1" dirty="0"/>
              <a:t>AI Awareness and Emotional Exhaustion </a:t>
            </a:r>
            <a:r>
              <a:rPr lang="en-US" sz="1300" dirty="0"/>
              <a:t>(Behavioral Sciences)</a:t>
            </a:r>
            <a:r>
              <a:rPr lang="en-US" sz="1300" b="1" i="1" dirty="0"/>
              <a:t> </a:t>
            </a:r>
            <a:r>
              <a:rPr lang="en-US" sz="1300" i="1" dirty="0">
                <a:hlinkClick r:id="rId12"/>
              </a:rPr>
              <a:t>https://doi.org/10.3390/bs15040401</a:t>
            </a:r>
            <a:endParaRPr lang="en-US" sz="1300" i="1" dirty="0"/>
          </a:p>
        </p:txBody>
      </p:sp>
    </p:spTree>
    <p:extLst>
      <p:ext uri="{BB962C8B-B14F-4D97-AF65-F5344CB8AC3E}">
        <p14:creationId xmlns:p14="http://schemas.microsoft.com/office/powerpoint/2010/main" val="199812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996D-4E42-4FFC-0F9A-E8978B681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01D6026-A4B0-1087-75D3-EA1B4DE893D9}"/>
              </a:ext>
            </a:extLst>
          </p:cNvPr>
          <p:cNvGrpSpPr/>
          <p:nvPr/>
        </p:nvGrpSpPr>
        <p:grpSpPr>
          <a:xfrm>
            <a:off x="-2258" y="0"/>
            <a:ext cx="12193953" cy="6858000"/>
            <a:chOff x="-2258" y="0"/>
            <a:chExt cx="12193953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5B3C4F3-3491-9EB8-AD4C-C4DD1536000D}"/>
                </a:ext>
              </a:extLst>
            </p:cNvPr>
            <p:cNvSpPr/>
            <p:nvPr/>
          </p:nvSpPr>
          <p:spPr>
            <a:xfrm>
              <a:off x="-2258" y="0"/>
              <a:ext cx="12191695" cy="6858000"/>
            </a:xfrm>
            <a:prstGeom prst="rect">
              <a:avLst/>
            </a:prstGeom>
            <a:solidFill>
              <a:srgbClr val="FAF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892C7F-E719-FD41-D314-EEC0A5CA5B3E}"/>
                </a:ext>
              </a:extLst>
            </p:cNvPr>
            <p:cNvSpPr/>
            <p:nvPr/>
          </p:nvSpPr>
          <p:spPr>
            <a:xfrm>
              <a:off x="0" y="0"/>
              <a:ext cx="12191695" cy="82296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1134BC-82D6-8752-5B64-BDBB7196728F}"/>
                </a:ext>
              </a:extLst>
            </p:cNvPr>
            <p:cNvSpPr/>
            <p:nvPr/>
          </p:nvSpPr>
          <p:spPr>
            <a:xfrm>
              <a:off x="0" y="822960"/>
              <a:ext cx="12191695" cy="73152"/>
            </a:xfrm>
            <a:prstGeom prst="rect">
              <a:avLst/>
            </a:prstGeom>
            <a:solidFill>
              <a:srgbClr val="C9A0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5" name="Picture 4" descr="iitm_logo.png">
              <a:extLst>
                <a:ext uri="{FF2B5EF4-FFF2-40B4-BE49-F238E27FC236}">
                  <a16:creationId xmlns:a16="http://schemas.microsoft.com/office/drawing/2014/main" id="{928A0214-7698-0F80-C61E-D3CCED8CA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91440"/>
              <a:ext cx="640080" cy="6400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F19244-F8DB-8132-30AA-16DB5960770A}"/>
                </a:ext>
              </a:extLst>
            </p:cNvPr>
            <p:cNvSpPr txBox="1"/>
            <p:nvPr/>
          </p:nvSpPr>
          <p:spPr>
            <a:xfrm>
              <a:off x="1005840" y="103102"/>
              <a:ext cx="9144000" cy="424732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Analysis &amp; Key Findings</a:t>
              </a:r>
              <a:endParaRPr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CEBCB9-BDB7-56B7-BD9F-4C71DD92E1AA}"/>
                </a:ext>
              </a:extLst>
            </p:cNvPr>
            <p:cNvSpPr txBox="1"/>
            <p:nvPr/>
          </p:nvSpPr>
          <p:spPr>
            <a:xfrm>
              <a:off x="1005840" y="457200"/>
              <a:ext cx="91440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200" b="0" i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Systemic Realities of AI </a:t>
              </a:r>
              <a:r>
                <a:rPr lang="en-US" sz="1200" i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integration in Enterprise Workflows</a:t>
              </a:r>
              <a:endParaRPr sz="1200" b="0" i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04DDDB-7F5E-544E-8827-4EEDB04609FF}"/>
                </a:ext>
              </a:extLst>
            </p:cNvPr>
            <p:cNvSpPr txBox="1"/>
            <p:nvPr/>
          </p:nvSpPr>
          <p:spPr>
            <a:xfrm>
              <a:off x="10241280" y="274320"/>
              <a:ext cx="18288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GP-</a:t>
              </a:r>
              <a:r>
                <a:rPr lang="en-US"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2</a:t>
              </a:r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 Submission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44F4A6-D251-7AF8-7DDB-28A5CF829D12}"/>
              </a:ext>
            </a:extLst>
          </p:cNvPr>
          <p:cNvGrpSpPr/>
          <p:nvPr/>
        </p:nvGrpSpPr>
        <p:grpSpPr>
          <a:xfrm>
            <a:off x="359179" y="1228142"/>
            <a:ext cx="3414409" cy="2519009"/>
            <a:chOff x="457199" y="1737360"/>
            <a:chExt cx="2306932" cy="225672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02F0ADB-D59F-D1A3-3518-215CCF9A4C79}"/>
                </a:ext>
              </a:extLst>
            </p:cNvPr>
            <p:cNvSpPr/>
            <p:nvPr/>
          </p:nvSpPr>
          <p:spPr>
            <a:xfrm>
              <a:off x="457199" y="1737361"/>
              <a:ext cx="2306932" cy="2256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9E82328-DAC6-977A-4EB8-577F72692632}"/>
                </a:ext>
              </a:extLst>
            </p:cNvPr>
            <p:cNvSpPr/>
            <p:nvPr/>
          </p:nvSpPr>
          <p:spPr>
            <a:xfrm>
              <a:off x="457200" y="1737360"/>
              <a:ext cx="61501" cy="224285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22F228D-6635-FA18-C417-B7C76773D9E3}"/>
                </a:ext>
              </a:extLst>
            </p:cNvPr>
            <p:cNvSpPr txBox="1"/>
            <p:nvPr/>
          </p:nvSpPr>
          <p:spPr>
            <a:xfrm>
              <a:off x="658902" y="1974553"/>
              <a:ext cx="1945268" cy="4494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A1F1A"/>
                  </a:solidFill>
                  <a:latin typeface="Calibri"/>
                </a:rPr>
                <a:t>Baseline Deadline Acceleration</a:t>
              </a:r>
              <a:br>
                <a:rPr lang="en-US" sz="1500" b="1" dirty="0">
                  <a:solidFill>
                    <a:srgbClr val="7A1F1A"/>
                  </a:solidFill>
                  <a:latin typeface="Calibri"/>
                </a:rPr>
              </a:br>
              <a:r>
                <a:rPr lang="en-US" sz="1400" b="1" i="1" dirty="0">
                  <a:solidFill>
                    <a:srgbClr val="C9A030"/>
                  </a:solidFill>
                  <a:latin typeface="Calibri"/>
                </a:rPr>
                <a:t>The Root of Technostress</a:t>
              </a:r>
              <a:endParaRPr sz="1500" b="1" i="1" dirty="0">
                <a:solidFill>
                  <a:srgbClr val="C9A030"/>
                </a:solidFill>
                <a:latin typeface="Calibri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3CBFC6-7163-609B-4DAC-AF1F6D7DA321}"/>
                </a:ext>
              </a:extLst>
            </p:cNvPr>
            <p:cNvSpPr txBox="1"/>
            <p:nvPr/>
          </p:nvSpPr>
          <p:spPr>
            <a:xfrm>
              <a:off x="664060" y="2518200"/>
              <a:ext cx="1915090" cy="91714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sz="1400" dirty="0">
                  <a:solidFill>
                    <a:srgbClr val="2B1B17"/>
                  </a:solidFill>
                  <a:latin typeface="Calibri"/>
                </a:rPr>
                <a:t>AI drastically compresses routine task execution, </a:t>
              </a:r>
              <a:r>
                <a:rPr lang="en-US" sz="1400" dirty="0">
                  <a:solidFill>
                    <a:srgbClr val="2B1B17"/>
                  </a:solidFill>
                </a:rPr>
                <a:t>it elevates performance baseline</a:t>
              </a:r>
              <a:r>
                <a:rPr lang="en-US" sz="1400" dirty="0">
                  <a:solidFill>
                    <a:srgbClr val="2B1B17"/>
                  </a:solidFill>
                  <a:latin typeface="Calibri"/>
                </a:rPr>
                <a:t> rather than freeing up time, leading to workplace pressure. </a:t>
              </a:r>
              <a:endParaRPr lang="en-US" sz="1400" b="0" dirty="0">
                <a:solidFill>
                  <a:srgbClr val="2B1B17"/>
                </a:solidFill>
                <a:latin typeface="Calibri"/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C72CB44-EA8D-1060-66CA-9976D90247AF}"/>
              </a:ext>
            </a:extLst>
          </p:cNvPr>
          <p:cNvGrpSpPr/>
          <p:nvPr/>
        </p:nvGrpSpPr>
        <p:grpSpPr>
          <a:xfrm>
            <a:off x="356844" y="3902318"/>
            <a:ext cx="3414409" cy="2519009"/>
            <a:chOff x="457199" y="1737360"/>
            <a:chExt cx="2306932" cy="2256720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F53E6792-9DEB-9AB9-BB33-7CC307BB6ED2}"/>
                </a:ext>
              </a:extLst>
            </p:cNvPr>
            <p:cNvSpPr/>
            <p:nvPr/>
          </p:nvSpPr>
          <p:spPr>
            <a:xfrm>
              <a:off x="457199" y="1737361"/>
              <a:ext cx="2306932" cy="2256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40B6F492-59F9-2E5D-6397-9F1BF08826ED}"/>
                </a:ext>
              </a:extLst>
            </p:cNvPr>
            <p:cNvSpPr/>
            <p:nvPr/>
          </p:nvSpPr>
          <p:spPr>
            <a:xfrm>
              <a:off x="457200" y="1737360"/>
              <a:ext cx="61501" cy="224285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6F86502-EB34-7C8E-5FEA-3F8E6CB83E1C}"/>
                </a:ext>
              </a:extLst>
            </p:cNvPr>
            <p:cNvSpPr txBox="1"/>
            <p:nvPr/>
          </p:nvSpPr>
          <p:spPr>
            <a:xfrm>
              <a:off x="658902" y="1974553"/>
              <a:ext cx="1945268" cy="4494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A1F1A"/>
                  </a:solidFill>
                  <a:latin typeface="Calibri"/>
                </a:rPr>
                <a:t>AI as a Curiosity Multiplier</a:t>
              </a:r>
              <a:br>
                <a:rPr lang="en-US" sz="1500" b="1" dirty="0">
                  <a:solidFill>
                    <a:srgbClr val="7A1F1A"/>
                  </a:solidFill>
                  <a:latin typeface="Calibri"/>
                </a:rPr>
              </a:br>
              <a:r>
                <a:rPr lang="en-US" sz="1400" b="1" i="1" dirty="0">
                  <a:solidFill>
                    <a:srgbClr val="C9A030"/>
                  </a:solidFill>
                  <a:latin typeface="Calibri"/>
                </a:rPr>
                <a:t>The Learning Engine</a:t>
              </a:r>
              <a:endParaRPr sz="1500" b="1" i="1" dirty="0">
                <a:solidFill>
                  <a:srgbClr val="C9A030"/>
                </a:solidFill>
                <a:latin typeface="Calibri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C5D1F1E-15CB-D222-6A95-B9CC17796125}"/>
                </a:ext>
              </a:extLst>
            </p:cNvPr>
            <p:cNvSpPr txBox="1"/>
            <p:nvPr/>
          </p:nvSpPr>
          <p:spPr>
            <a:xfrm>
              <a:off x="664060" y="2518200"/>
              <a:ext cx="1915090" cy="129260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sz="1400" dirty="0"/>
                <a:t>Rather than viewing automation as a skill replacement, a growth mindset leverages easy access to information to stimulate deeper technical curiosity and learning. </a:t>
              </a:r>
              <a:endParaRPr lang="en-US" sz="1400" dirty="0">
                <a:solidFill>
                  <a:srgbClr val="2B1B17"/>
                </a:solidFill>
              </a:endParaRP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7330473-A1F4-4BBD-2BCD-C2F98E8B57BC}"/>
              </a:ext>
            </a:extLst>
          </p:cNvPr>
          <p:cNvGrpSpPr/>
          <p:nvPr/>
        </p:nvGrpSpPr>
        <p:grpSpPr>
          <a:xfrm>
            <a:off x="4229439" y="1223641"/>
            <a:ext cx="3414409" cy="2519009"/>
            <a:chOff x="457199" y="1737360"/>
            <a:chExt cx="2306932" cy="2256720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B9DF03A9-3DD9-5FEF-4DC3-D93845A680A3}"/>
                </a:ext>
              </a:extLst>
            </p:cNvPr>
            <p:cNvSpPr/>
            <p:nvPr/>
          </p:nvSpPr>
          <p:spPr>
            <a:xfrm>
              <a:off x="457199" y="1737361"/>
              <a:ext cx="2306932" cy="2256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BFE0A2C-89C4-2C94-61E0-C04E583D0882}"/>
                </a:ext>
              </a:extLst>
            </p:cNvPr>
            <p:cNvSpPr/>
            <p:nvPr/>
          </p:nvSpPr>
          <p:spPr>
            <a:xfrm>
              <a:off x="457200" y="1737360"/>
              <a:ext cx="61501" cy="224285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463D4AF0-7618-7DD6-2950-5C8BA151B45E}"/>
                </a:ext>
              </a:extLst>
            </p:cNvPr>
            <p:cNvSpPr txBox="1"/>
            <p:nvPr/>
          </p:nvSpPr>
          <p:spPr>
            <a:xfrm>
              <a:off x="658902" y="1974553"/>
              <a:ext cx="1945268" cy="4494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A1F1A"/>
                  </a:solidFill>
                  <a:latin typeface="Calibri"/>
                </a:rPr>
                <a:t>Growth Mindset as a Buffer</a:t>
              </a:r>
              <a:br>
                <a:rPr lang="en-US" sz="1500" b="1" dirty="0">
                  <a:solidFill>
                    <a:srgbClr val="7A1F1A"/>
                  </a:solidFill>
                  <a:latin typeface="Calibri"/>
                </a:rPr>
              </a:br>
              <a:r>
                <a:rPr lang="en-US" sz="1400" b="1" i="1" dirty="0">
                  <a:solidFill>
                    <a:srgbClr val="C9A030"/>
                  </a:solidFill>
                  <a:latin typeface="Calibri"/>
                </a:rPr>
                <a:t>Avoiding the Two Extremes</a:t>
              </a:r>
              <a:endParaRPr sz="1500" b="1" i="1" dirty="0">
                <a:solidFill>
                  <a:srgbClr val="C9A030"/>
                </a:solidFill>
                <a:latin typeface="Calibri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48E05C2B-F6EB-9361-1983-20D940BB4BB1}"/>
                </a:ext>
              </a:extLst>
            </p:cNvPr>
            <p:cNvSpPr txBox="1"/>
            <p:nvPr/>
          </p:nvSpPr>
          <p:spPr>
            <a:xfrm>
              <a:off x="676152" y="2519028"/>
              <a:ext cx="1915090" cy="129260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sz="1400" dirty="0"/>
                <a:t>Anxiety leads to two extremes blind reliance and total resistance. Growth mindset balances AI speed with human oversight.</a:t>
              </a:r>
              <a:endParaRPr lang="en-US" sz="1400" dirty="0">
                <a:solidFill>
                  <a:srgbClr val="2B1B17"/>
                </a:solidFill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8BED09C-3767-B72C-7DC2-1ED92AC99EE4}"/>
              </a:ext>
            </a:extLst>
          </p:cNvPr>
          <p:cNvGrpSpPr/>
          <p:nvPr/>
        </p:nvGrpSpPr>
        <p:grpSpPr>
          <a:xfrm>
            <a:off x="4224310" y="3924630"/>
            <a:ext cx="3414409" cy="2519009"/>
            <a:chOff x="457199" y="1737360"/>
            <a:chExt cx="2306932" cy="2256720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3AC6342-C5B2-5DB0-AF53-7B449E45B130}"/>
                </a:ext>
              </a:extLst>
            </p:cNvPr>
            <p:cNvSpPr/>
            <p:nvPr/>
          </p:nvSpPr>
          <p:spPr>
            <a:xfrm>
              <a:off x="457199" y="1737361"/>
              <a:ext cx="2306932" cy="2256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ED2F385F-0F28-0D75-ACBA-51156DDA3D8B}"/>
                </a:ext>
              </a:extLst>
            </p:cNvPr>
            <p:cNvSpPr/>
            <p:nvPr/>
          </p:nvSpPr>
          <p:spPr>
            <a:xfrm>
              <a:off x="457200" y="1737360"/>
              <a:ext cx="61501" cy="224285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6D8095F-DC27-F944-0C18-DAFC9271D81E}"/>
                </a:ext>
              </a:extLst>
            </p:cNvPr>
            <p:cNvSpPr txBox="1"/>
            <p:nvPr/>
          </p:nvSpPr>
          <p:spPr>
            <a:xfrm>
              <a:off x="658902" y="1974553"/>
              <a:ext cx="2033007" cy="51088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A1F1A"/>
                  </a:solidFill>
                  <a:latin typeface="Calibri"/>
                </a:rPr>
                <a:t>Continuous Learning for Agency</a:t>
              </a:r>
              <a:br>
                <a:rPr lang="en-US" sz="1500" b="1" dirty="0">
                  <a:solidFill>
                    <a:srgbClr val="7A1F1A"/>
                  </a:solidFill>
                  <a:latin typeface="Calibri"/>
                </a:rPr>
              </a:br>
              <a:r>
                <a:rPr lang="en-US" sz="1400" b="1" i="1" dirty="0">
                  <a:solidFill>
                    <a:srgbClr val="C9A030"/>
                  </a:solidFill>
                  <a:latin typeface="Calibri"/>
                </a:rPr>
                <a:t>Neutralizing Job Insecurity</a:t>
              </a:r>
              <a:endParaRPr sz="1500" b="1" i="1" dirty="0">
                <a:solidFill>
                  <a:srgbClr val="C9A030"/>
                </a:solidFill>
                <a:latin typeface="Calibri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893A64D9-1996-95F3-485B-A542D07F9A0B}"/>
                </a:ext>
              </a:extLst>
            </p:cNvPr>
            <p:cNvSpPr txBox="1"/>
            <p:nvPr/>
          </p:nvSpPr>
          <p:spPr>
            <a:xfrm>
              <a:off x="676152" y="2519028"/>
              <a:ext cx="1915090" cy="91714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IN" sz="1400" dirty="0"/>
                <a:t>Workplace stress reaches its peak when professionals feel helpless against rapid technological shifts. Adaptability is the key. </a:t>
              </a:r>
              <a:endParaRPr lang="en-US" sz="1400" dirty="0">
                <a:solidFill>
                  <a:srgbClr val="2B1B17"/>
                </a:solidFill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D6332B9-E3E8-C627-0A7A-BE152E07BAEB}"/>
              </a:ext>
            </a:extLst>
          </p:cNvPr>
          <p:cNvGrpSpPr/>
          <p:nvPr/>
        </p:nvGrpSpPr>
        <p:grpSpPr>
          <a:xfrm>
            <a:off x="8094863" y="1223641"/>
            <a:ext cx="3414409" cy="2519009"/>
            <a:chOff x="457199" y="1737360"/>
            <a:chExt cx="2306932" cy="2256720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F45A41F-DADC-41A8-F7D5-9392A57CDEBC}"/>
                </a:ext>
              </a:extLst>
            </p:cNvPr>
            <p:cNvSpPr/>
            <p:nvPr/>
          </p:nvSpPr>
          <p:spPr>
            <a:xfrm>
              <a:off x="457199" y="1737361"/>
              <a:ext cx="2306932" cy="2256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BD61E98A-5B5F-AEAC-1277-BE9455C7A5CB}"/>
                </a:ext>
              </a:extLst>
            </p:cNvPr>
            <p:cNvSpPr/>
            <p:nvPr/>
          </p:nvSpPr>
          <p:spPr>
            <a:xfrm>
              <a:off x="457200" y="1737360"/>
              <a:ext cx="61501" cy="224285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098C89C-1D39-B78F-92EA-26BDF419D44C}"/>
                </a:ext>
              </a:extLst>
            </p:cNvPr>
            <p:cNvSpPr txBox="1"/>
            <p:nvPr/>
          </p:nvSpPr>
          <p:spPr>
            <a:xfrm>
              <a:off x="658902" y="1974553"/>
              <a:ext cx="1945268" cy="4494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A1F1A"/>
                  </a:solidFill>
                  <a:latin typeface="Calibri"/>
                </a:rPr>
                <a:t>Human-in-the-loop</a:t>
              </a:r>
              <a:br>
                <a:rPr lang="en-US" sz="1500" b="1" dirty="0">
                  <a:solidFill>
                    <a:srgbClr val="7A1F1A"/>
                  </a:solidFill>
                  <a:latin typeface="Calibri"/>
                </a:rPr>
              </a:br>
              <a:r>
                <a:rPr lang="en-US" sz="1400" b="1" i="1" dirty="0">
                  <a:solidFill>
                    <a:srgbClr val="C9A030"/>
                  </a:solidFill>
                  <a:latin typeface="Calibri"/>
                </a:rPr>
                <a:t>Un-</a:t>
              </a:r>
              <a:r>
                <a:rPr lang="en-US" sz="1400" b="1" i="1" dirty="0" err="1">
                  <a:solidFill>
                    <a:srgbClr val="C9A030"/>
                  </a:solidFill>
                  <a:latin typeface="Calibri"/>
                </a:rPr>
                <a:t>delegatable</a:t>
              </a:r>
              <a:r>
                <a:rPr lang="en-US" sz="1400" b="1" i="1" dirty="0">
                  <a:solidFill>
                    <a:srgbClr val="C9A030"/>
                  </a:solidFill>
                  <a:latin typeface="Calibri"/>
                </a:rPr>
                <a:t> Liability</a:t>
              </a:r>
              <a:endParaRPr sz="1500" b="1" i="1" dirty="0">
                <a:solidFill>
                  <a:srgbClr val="C9A030"/>
                </a:solidFill>
                <a:latin typeface="Calibri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C3E9D81C-DEF4-7087-3517-949156A7C008}"/>
                </a:ext>
              </a:extLst>
            </p:cNvPr>
            <p:cNvSpPr txBox="1"/>
            <p:nvPr/>
          </p:nvSpPr>
          <p:spPr>
            <a:xfrm>
              <a:off x="676152" y="2519028"/>
              <a:ext cx="1915090" cy="91714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IN" sz="1400" dirty="0"/>
                <a:t>While AI can do a substantial portion of routine tasks, AI algorithms cannot assume legal or operational liability. Human oversight is irreplaceable.</a:t>
              </a:r>
              <a:endParaRPr lang="en-US" sz="1400" dirty="0">
                <a:solidFill>
                  <a:srgbClr val="2B1B17"/>
                </a:solidFill>
              </a:endParaRP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5EE9554-6B3D-1812-19AE-1123FE219A0E}"/>
              </a:ext>
            </a:extLst>
          </p:cNvPr>
          <p:cNvGrpSpPr/>
          <p:nvPr/>
        </p:nvGrpSpPr>
        <p:grpSpPr>
          <a:xfrm>
            <a:off x="8106305" y="3945135"/>
            <a:ext cx="3414409" cy="2519009"/>
            <a:chOff x="457199" y="1737360"/>
            <a:chExt cx="2306932" cy="2256720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5F4A5FEB-FD3F-45BD-42B8-8454638079A5}"/>
                </a:ext>
              </a:extLst>
            </p:cNvPr>
            <p:cNvSpPr/>
            <p:nvPr/>
          </p:nvSpPr>
          <p:spPr>
            <a:xfrm>
              <a:off x="457199" y="1737361"/>
              <a:ext cx="2306932" cy="2256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FC6747D-9E64-5541-8A86-8B79913B14E5}"/>
                </a:ext>
              </a:extLst>
            </p:cNvPr>
            <p:cNvSpPr/>
            <p:nvPr/>
          </p:nvSpPr>
          <p:spPr>
            <a:xfrm>
              <a:off x="457200" y="1737360"/>
              <a:ext cx="61501" cy="224285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81F6AFD2-5021-C0ED-4B3C-E870550083B6}"/>
                </a:ext>
              </a:extLst>
            </p:cNvPr>
            <p:cNvSpPr txBox="1"/>
            <p:nvPr/>
          </p:nvSpPr>
          <p:spPr>
            <a:xfrm>
              <a:off x="658902" y="1974553"/>
              <a:ext cx="1954699" cy="65623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A1F1A"/>
                  </a:solidFill>
                  <a:latin typeface="Calibri"/>
                </a:rPr>
                <a:t>Anchoring Security in Human Differentiators</a:t>
              </a:r>
              <a:br>
                <a:rPr lang="en-US" sz="1500" b="1" dirty="0">
                  <a:solidFill>
                    <a:srgbClr val="7A1F1A"/>
                  </a:solidFill>
                  <a:latin typeface="Calibri"/>
                </a:rPr>
              </a:br>
              <a:r>
                <a:rPr lang="en-US" sz="1400" b="1" i="1" dirty="0">
                  <a:solidFill>
                    <a:srgbClr val="C9A030"/>
                  </a:solidFill>
                  <a:latin typeface="Calibri"/>
                </a:rPr>
                <a:t>Beyond Tool Fluency</a:t>
              </a:r>
              <a:endParaRPr sz="1500" b="1" i="1" dirty="0">
                <a:solidFill>
                  <a:srgbClr val="C9A030"/>
                </a:solidFill>
                <a:latin typeface="Calibri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5E94651B-3AFB-A442-C8B7-F8093BBAC5CA}"/>
                </a:ext>
              </a:extLst>
            </p:cNvPr>
            <p:cNvSpPr txBox="1"/>
            <p:nvPr/>
          </p:nvSpPr>
          <p:spPr>
            <a:xfrm>
              <a:off x="676152" y="2630789"/>
              <a:ext cx="1915090" cy="1137155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IN" sz="1400" dirty="0"/>
                <a:t>Anxiety subsides when professionals realise that career security is anchored in non automatable human qualities: critical thinking, ethics &amp; domain specific judgement. </a:t>
              </a:r>
              <a:endParaRPr lang="en-US" sz="1400" dirty="0">
                <a:solidFill>
                  <a:srgbClr val="2B1B1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324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86B8-EC86-7B0B-1D72-5050EE8B9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AA30985-F17C-5356-9F9D-CE51176CA3C9}"/>
              </a:ext>
            </a:extLst>
          </p:cNvPr>
          <p:cNvGrpSpPr/>
          <p:nvPr/>
        </p:nvGrpSpPr>
        <p:grpSpPr>
          <a:xfrm>
            <a:off x="0" y="0"/>
            <a:ext cx="12193953" cy="6858000"/>
            <a:chOff x="-2258" y="0"/>
            <a:chExt cx="12193953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600DE17-1C48-F78C-97DA-E2208E3BC5BA}"/>
                </a:ext>
              </a:extLst>
            </p:cNvPr>
            <p:cNvSpPr/>
            <p:nvPr/>
          </p:nvSpPr>
          <p:spPr>
            <a:xfrm>
              <a:off x="-2258" y="0"/>
              <a:ext cx="12191695" cy="6858000"/>
            </a:xfrm>
            <a:prstGeom prst="rect">
              <a:avLst/>
            </a:prstGeom>
            <a:solidFill>
              <a:srgbClr val="FAF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940C53-B9E0-1E8D-F0CE-D7913673CCF5}"/>
                </a:ext>
              </a:extLst>
            </p:cNvPr>
            <p:cNvSpPr/>
            <p:nvPr/>
          </p:nvSpPr>
          <p:spPr>
            <a:xfrm>
              <a:off x="0" y="0"/>
              <a:ext cx="12191695" cy="82296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C4B175-1083-90C2-F6B0-3FFE500F52A4}"/>
                </a:ext>
              </a:extLst>
            </p:cNvPr>
            <p:cNvSpPr/>
            <p:nvPr/>
          </p:nvSpPr>
          <p:spPr>
            <a:xfrm>
              <a:off x="0" y="822960"/>
              <a:ext cx="12191695" cy="73152"/>
            </a:xfrm>
            <a:prstGeom prst="rect">
              <a:avLst/>
            </a:prstGeom>
            <a:solidFill>
              <a:srgbClr val="C9A0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5" name="Picture 4" descr="iitm_logo.png">
              <a:extLst>
                <a:ext uri="{FF2B5EF4-FFF2-40B4-BE49-F238E27FC236}">
                  <a16:creationId xmlns:a16="http://schemas.microsoft.com/office/drawing/2014/main" id="{EE773875-FC1F-C6EC-D0CE-036A048EB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91440"/>
              <a:ext cx="640080" cy="6400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4424DB-4415-01E0-21C6-CAC1644183BD}"/>
                </a:ext>
              </a:extLst>
            </p:cNvPr>
            <p:cNvSpPr txBox="1"/>
            <p:nvPr/>
          </p:nvSpPr>
          <p:spPr>
            <a:xfrm>
              <a:off x="1005840" y="103102"/>
              <a:ext cx="9144000" cy="424732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Recommendations</a:t>
              </a:r>
              <a:endParaRPr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E7EADF-768B-647D-7871-A29177A36CFC}"/>
                </a:ext>
              </a:extLst>
            </p:cNvPr>
            <p:cNvSpPr txBox="1"/>
            <p:nvPr/>
          </p:nvSpPr>
          <p:spPr>
            <a:xfrm>
              <a:off x="1005840" y="457200"/>
              <a:ext cx="91440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200" b="0" i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For organizations and individuals</a:t>
              </a:r>
              <a:endParaRPr sz="1200" b="0" i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E637B6-E57D-B45F-5266-02AE4104393A}"/>
                </a:ext>
              </a:extLst>
            </p:cNvPr>
            <p:cNvSpPr txBox="1"/>
            <p:nvPr/>
          </p:nvSpPr>
          <p:spPr>
            <a:xfrm>
              <a:off x="10241280" y="274320"/>
              <a:ext cx="18288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GP-</a:t>
              </a:r>
              <a:r>
                <a:rPr lang="en-US"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2</a:t>
              </a:r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 Submission</a:t>
              </a:r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7584275-B781-380C-BF94-682466387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905190"/>
              </p:ext>
            </p:extLst>
          </p:nvPr>
        </p:nvGraphicFramePr>
        <p:xfrm>
          <a:off x="458597" y="1292561"/>
          <a:ext cx="11274807" cy="482600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2236477">
                  <a:extLst>
                    <a:ext uri="{9D8B030D-6E8A-4147-A177-3AD203B41FA5}">
                      <a16:colId xmlns:a16="http://schemas.microsoft.com/office/drawing/2014/main" val="3848278841"/>
                    </a:ext>
                  </a:extLst>
                </a:gridCol>
                <a:gridCol w="3339966">
                  <a:extLst>
                    <a:ext uri="{9D8B030D-6E8A-4147-A177-3AD203B41FA5}">
                      <a16:colId xmlns:a16="http://schemas.microsoft.com/office/drawing/2014/main" val="3127030076"/>
                    </a:ext>
                  </a:extLst>
                </a:gridCol>
                <a:gridCol w="5698364">
                  <a:extLst>
                    <a:ext uri="{9D8B030D-6E8A-4147-A177-3AD203B41FA5}">
                      <a16:colId xmlns:a16="http://schemas.microsoft.com/office/drawing/2014/main" val="2893432293"/>
                    </a:ext>
                  </a:extLst>
                </a:gridCol>
              </a:tblGrid>
              <a:tr h="543866">
                <a:tc>
                  <a:txBody>
                    <a:bodyPr/>
                    <a:lstStyle/>
                    <a:p>
                      <a:pPr algn="ctr"/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Target Audience</a:t>
                      </a:r>
                      <a:endParaRPr lang="en-IN" sz="1450" b="1" dirty="0">
                        <a:solidFill>
                          <a:schemeClr val="bg1"/>
                        </a:solidFill>
                      </a:endParaRPr>
                    </a:p>
                  </a:txBody>
                  <a:tcPr marL="126842" marR="126842" marT="63421" marB="63421" anchor="ctr">
                    <a:solidFill>
                      <a:srgbClr val="7A1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Core Focus Area</a:t>
                      </a:r>
                      <a:endParaRPr lang="en-IN" sz="1450" b="1" dirty="0">
                        <a:solidFill>
                          <a:schemeClr val="bg1"/>
                        </a:solidFill>
                      </a:endParaRPr>
                    </a:p>
                  </a:txBody>
                  <a:tcPr marL="126842" marR="126842" marT="63421" marB="63421" anchor="ctr">
                    <a:solidFill>
                      <a:srgbClr val="7A1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50" b="1" dirty="0">
                          <a:solidFill>
                            <a:schemeClr val="bg1"/>
                          </a:solidFill>
                        </a:rPr>
                        <a:t>Actionable Recommendations</a:t>
                      </a:r>
                    </a:p>
                  </a:txBody>
                  <a:tcPr marL="126842" marR="126842" marT="63421" marB="63421" anchor="ctr">
                    <a:solidFill>
                      <a:srgbClr val="7A1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52998"/>
                  </a:ext>
                </a:extLst>
              </a:tr>
              <a:tr h="1105074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Individual Professionals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i="0" dirty="0"/>
                        <a:t>Parallel Upskilling &amp; Parallel Execution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lang="en-US" sz="1450" i="1" dirty="0"/>
                        <a:t>Leverage GenAI for rapid execution/prototyping while intentionally maintaining parallel manual practice of fundamental logic to avoid skill atrophy and platform dependency.</a:t>
                      </a:r>
                      <a:endParaRPr lang="en-IN" sz="1450" i="1" dirty="0"/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179425"/>
                  </a:ext>
                </a:extLst>
              </a:tr>
              <a:tr h="1114696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Individual Professionals</a:t>
                      </a: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i="0" dirty="0"/>
                        <a:t>"Junior Teammate" Mental Model</a:t>
                      </a: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lang="en-US" sz="1450" i="1" dirty="0"/>
                        <a:t>Adopt a self-regulation framework that subjects all AI-generated outputs to strict human-in-the-loop validation, auditability, and contextual alignment before deployment.</a:t>
                      </a:r>
                      <a:endParaRPr lang="en-IN" sz="1450" i="1" dirty="0"/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833385"/>
                  </a:ext>
                </a:extLst>
              </a:tr>
              <a:tr h="1044477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Managers &amp; Leaders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i="0" dirty="0"/>
                        <a:t>Outcome &amp; Token-Aware Evaluation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lang="en-US" sz="1450" i="1" dirty="0"/>
                        <a:t>Restructure performance metrics to evaluate final quality, domain logic, and cost-efficiency (token spend) rather than judging tool adoption optics alone. </a:t>
                      </a:r>
                      <a:endParaRPr lang="en-IN" sz="1450" i="1" dirty="0"/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79865"/>
                  </a:ext>
                </a:extLst>
              </a:tr>
              <a:tr h="1017892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Organizations</a:t>
                      </a: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i="0" dirty="0"/>
                        <a:t>Cognitive Load &amp; Baseline Adjustment</a:t>
                      </a: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lang="en-US" sz="1450" i="1" dirty="0"/>
                        <a:t>Realign project deadlines to prevent chronic burnout; ensure productivity gains from AI are re-invested into employee upskilling rather than compounding workplace stress.</a:t>
                      </a:r>
                      <a:endParaRPr lang="en-IN" sz="1450" i="1" dirty="0"/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722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100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D5376-E3FB-A4BF-9CDB-B50CDB09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8ECF995-922C-0D08-A49E-3D3E487FA084}"/>
              </a:ext>
            </a:extLst>
          </p:cNvPr>
          <p:cNvGrpSpPr/>
          <p:nvPr/>
        </p:nvGrpSpPr>
        <p:grpSpPr>
          <a:xfrm>
            <a:off x="0" y="0"/>
            <a:ext cx="12193953" cy="6858000"/>
            <a:chOff x="-2258" y="0"/>
            <a:chExt cx="12193953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725F68-9EA6-0431-E703-84C521CE3CE4}"/>
                </a:ext>
              </a:extLst>
            </p:cNvPr>
            <p:cNvSpPr/>
            <p:nvPr/>
          </p:nvSpPr>
          <p:spPr>
            <a:xfrm>
              <a:off x="-2258" y="0"/>
              <a:ext cx="12191695" cy="6858000"/>
            </a:xfrm>
            <a:prstGeom prst="rect">
              <a:avLst/>
            </a:prstGeom>
            <a:solidFill>
              <a:srgbClr val="FAF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E47A34-433F-18B4-23A4-93D8A0707D63}"/>
                </a:ext>
              </a:extLst>
            </p:cNvPr>
            <p:cNvSpPr/>
            <p:nvPr/>
          </p:nvSpPr>
          <p:spPr>
            <a:xfrm>
              <a:off x="0" y="0"/>
              <a:ext cx="12191695" cy="82296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FC5A72-7248-1DE9-C552-730AFD722D5A}"/>
                </a:ext>
              </a:extLst>
            </p:cNvPr>
            <p:cNvSpPr/>
            <p:nvPr/>
          </p:nvSpPr>
          <p:spPr>
            <a:xfrm>
              <a:off x="0" y="822960"/>
              <a:ext cx="12191695" cy="73152"/>
            </a:xfrm>
            <a:prstGeom prst="rect">
              <a:avLst/>
            </a:prstGeom>
            <a:solidFill>
              <a:srgbClr val="C9A0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5" name="Picture 4" descr="iitm_logo.png">
              <a:extLst>
                <a:ext uri="{FF2B5EF4-FFF2-40B4-BE49-F238E27FC236}">
                  <a16:creationId xmlns:a16="http://schemas.microsoft.com/office/drawing/2014/main" id="{3F6718D6-DEE4-62E8-9FF0-8BCBD8C4B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91440"/>
              <a:ext cx="640080" cy="6400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75BF10-0458-56BB-FFCC-E3947EA27A6C}"/>
                </a:ext>
              </a:extLst>
            </p:cNvPr>
            <p:cNvSpPr txBox="1"/>
            <p:nvPr/>
          </p:nvSpPr>
          <p:spPr>
            <a:xfrm>
              <a:off x="1005840" y="103102"/>
              <a:ext cx="9144000" cy="424732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Influence Diagram</a:t>
              </a:r>
              <a:endParaRPr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6E6873-FB76-2084-613B-7D7508709BCE}"/>
                </a:ext>
              </a:extLst>
            </p:cNvPr>
            <p:cNvSpPr txBox="1"/>
            <p:nvPr/>
          </p:nvSpPr>
          <p:spPr>
            <a:xfrm>
              <a:off x="1005840" y="457200"/>
              <a:ext cx="91440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200" b="0" i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Understandin</a:t>
              </a:r>
              <a:r>
                <a:rPr lang="en-US" sz="1200" i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g the complete landscape schematically</a:t>
              </a:r>
              <a:endParaRPr sz="1200" b="0" i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FD7B8C-9FC4-1740-59B4-03EDEA9BD01F}"/>
                </a:ext>
              </a:extLst>
            </p:cNvPr>
            <p:cNvSpPr txBox="1"/>
            <p:nvPr/>
          </p:nvSpPr>
          <p:spPr>
            <a:xfrm>
              <a:off x="10241280" y="274320"/>
              <a:ext cx="18288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GP-</a:t>
              </a:r>
              <a:r>
                <a:rPr lang="en-US"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2</a:t>
              </a:r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 Submission</a:t>
              </a:r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2F54BCB5-C78E-28FA-D834-99ABA2408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080"/>
          <a:stretch>
            <a:fillRect/>
          </a:stretch>
        </p:blipFill>
        <p:spPr>
          <a:xfrm>
            <a:off x="52900" y="907558"/>
            <a:ext cx="12086201" cy="49724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5DC2831-63AA-D5FE-D72F-A49C8FBD7EDF}"/>
              </a:ext>
            </a:extLst>
          </p:cNvPr>
          <p:cNvSpPr txBox="1"/>
          <p:nvPr/>
        </p:nvSpPr>
        <p:spPr>
          <a:xfrm>
            <a:off x="449981" y="5706773"/>
            <a:ext cx="6270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A1F1A"/>
                </a:solidFill>
              </a:rPr>
              <a:t>Legend:</a:t>
            </a:r>
            <a:r>
              <a:rPr lang="en-US" dirty="0">
                <a:solidFill>
                  <a:srgbClr val="7A1F1A"/>
                </a:solidFill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(+)</a:t>
            </a:r>
            <a:r>
              <a:rPr lang="en-US" dirty="0"/>
              <a:t> = </a:t>
            </a:r>
            <a:r>
              <a:rPr lang="en-US" i="1" dirty="0"/>
              <a:t>Direct/Increases </a:t>
            </a:r>
            <a:r>
              <a:rPr lang="en-US" dirty="0"/>
              <a:t>| </a:t>
            </a:r>
            <a:r>
              <a:rPr lang="en-US" b="1" dirty="0">
                <a:latin typeface="Courier New" panose="02070309020205020404" pitchFamily="49" charset="0"/>
              </a:rPr>
              <a:t>(-)</a:t>
            </a:r>
            <a:r>
              <a:rPr lang="en-US" dirty="0"/>
              <a:t> = </a:t>
            </a:r>
            <a:r>
              <a:rPr lang="en-US" i="1" dirty="0"/>
              <a:t>Buffers/Reduces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92056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24C5-74E7-E7DA-EAF5-00D38625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815F46D-B519-3CE3-38ED-79CCC95FE58F}"/>
              </a:ext>
            </a:extLst>
          </p:cNvPr>
          <p:cNvGrpSpPr/>
          <p:nvPr/>
        </p:nvGrpSpPr>
        <p:grpSpPr>
          <a:xfrm>
            <a:off x="0" y="0"/>
            <a:ext cx="12193953" cy="6858000"/>
            <a:chOff x="-2258" y="0"/>
            <a:chExt cx="12193953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1BB8324-6AE0-93FB-AFBF-63F0A094F796}"/>
                </a:ext>
              </a:extLst>
            </p:cNvPr>
            <p:cNvSpPr/>
            <p:nvPr/>
          </p:nvSpPr>
          <p:spPr>
            <a:xfrm>
              <a:off x="-2258" y="0"/>
              <a:ext cx="12191695" cy="6858000"/>
            </a:xfrm>
            <a:prstGeom prst="rect">
              <a:avLst/>
            </a:prstGeom>
            <a:solidFill>
              <a:srgbClr val="FAF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02BE3C-7C9F-B7B1-82D7-CDB535F8B831}"/>
                </a:ext>
              </a:extLst>
            </p:cNvPr>
            <p:cNvSpPr/>
            <p:nvPr/>
          </p:nvSpPr>
          <p:spPr>
            <a:xfrm>
              <a:off x="0" y="0"/>
              <a:ext cx="12191695" cy="82296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52215D-54CE-27FA-B27E-603023753BE8}"/>
                </a:ext>
              </a:extLst>
            </p:cNvPr>
            <p:cNvSpPr/>
            <p:nvPr/>
          </p:nvSpPr>
          <p:spPr>
            <a:xfrm>
              <a:off x="0" y="822960"/>
              <a:ext cx="12191695" cy="73152"/>
            </a:xfrm>
            <a:prstGeom prst="rect">
              <a:avLst/>
            </a:prstGeom>
            <a:solidFill>
              <a:srgbClr val="C9A0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5" name="Picture 4" descr="iitm_logo.png">
              <a:extLst>
                <a:ext uri="{FF2B5EF4-FFF2-40B4-BE49-F238E27FC236}">
                  <a16:creationId xmlns:a16="http://schemas.microsoft.com/office/drawing/2014/main" id="{3BC2A409-D7F5-26A2-B870-AAC65F725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91440"/>
              <a:ext cx="640080" cy="6400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293A22-D09C-28BF-46B5-A86F33ECD49B}"/>
                </a:ext>
              </a:extLst>
            </p:cNvPr>
            <p:cNvSpPr txBox="1"/>
            <p:nvPr/>
          </p:nvSpPr>
          <p:spPr>
            <a:xfrm>
              <a:off x="1005840" y="103102"/>
              <a:ext cx="9144000" cy="424732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Project Review &amp; Closure</a:t>
              </a:r>
              <a:endParaRPr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6BA94E-B611-0C2F-B172-857BBB3FF140}"/>
                </a:ext>
              </a:extLst>
            </p:cNvPr>
            <p:cNvSpPr txBox="1"/>
            <p:nvPr/>
          </p:nvSpPr>
          <p:spPr>
            <a:xfrm>
              <a:off x="1005840" y="457200"/>
              <a:ext cx="91440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en-US" sz="1200" b="0" i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Credits, Challenges and Ending Notes</a:t>
              </a:r>
              <a:endParaRPr sz="1200" b="0" i="1" dirty="0">
                <a:solidFill>
                  <a:srgbClr val="C9A0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6F0535-A45B-D604-B56C-67DA03662F0C}"/>
                </a:ext>
              </a:extLst>
            </p:cNvPr>
            <p:cNvSpPr txBox="1"/>
            <p:nvPr/>
          </p:nvSpPr>
          <p:spPr>
            <a:xfrm>
              <a:off x="10241280" y="274320"/>
              <a:ext cx="1828800" cy="24006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GP-</a:t>
              </a:r>
              <a:r>
                <a:rPr lang="en-US"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2</a:t>
              </a:r>
              <a:r>
                <a:rPr sz="1200" b="1" dirty="0">
                  <a:solidFill>
                    <a:srgbClr val="C9A03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rPr>
                <a:t> Submission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473BE3-F143-DA14-AB9B-D9C9C19EC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43061"/>
              </p:ext>
            </p:extLst>
          </p:nvPr>
        </p:nvGraphicFramePr>
        <p:xfrm>
          <a:off x="385009" y="1083628"/>
          <a:ext cx="5486427" cy="443979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1496822">
                  <a:extLst>
                    <a:ext uri="{9D8B030D-6E8A-4147-A177-3AD203B41FA5}">
                      <a16:colId xmlns:a16="http://schemas.microsoft.com/office/drawing/2014/main" val="3848278841"/>
                    </a:ext>
                  </a:extLst>
                </a:gridCol>
                <a:gridCol w="3989605">
                  <a:extLst>
                    <a:ext uri="{9D8B030D-6E8A-4147-A177-3AD203B41FA5}">
                      <a16:colId xmlns:a16="http://schemas.microsoft.com/office/drawing/2014/main" val="3127030076"/>
                    </a:ext>
                  </a:extLst>
                </a:gridCol>
              </a:tblGrid>
              <a:tr h="332084">
                <a:tc>
                  <a:txBody>
                    <a:bodyPr/>
                    <a:lstStyle/>
                    <a:p>
                      <a:pPr algn="ctr"/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Member</a:t>
                      </a:r>
                      <a:endParaRPr lang="en-IN" sz="1450" b="1" dirty="0">
                        <a:solidFill>
                          <a:schemeClr val="bg1"/>
                        </a:solidFill>
                      </a:endParaRPr>
                    </a:p>
                  </a:txBody>
                  <a:tcPr marL="126842" marR="126842" marT="63421" marB="63421" anchor="ctr">
                    <a:solidFill>
                      <a:srgbClr val="7A1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Contributions</a:t>
                      </a:r>
                      <a:endParaRPr lang="en-IN" sz="1450" b="1" dirty="0">
                        <a:solidFill>
                          <a:schemeClr val="bg1"/>
                        </a:solidFill>
                      </a:endParaRPr>
                    </a:p>
                  </a:txBody>
                  <a:tcPr marL="126842" marR="126842" marT="63421" marB="63421" anchor="ctr">
                    <a:solidFill>
                      <a:srgbClr val="7A1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52998"/>
                  </a:ext>
                </a:extLst>
              </a:tr>
              <a:tr h="853191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Rishi Jain</a:t>
                      </a:r>
                      <a:br>
                        <a:rPr lang="en-IN" sz="1450" b="1" dirty="0">
                          <a:solidFill>
                            <a:srgbClr val="7A1F1A"/>
                          </a:solidFill>
                        </a:rPr>
                      </a:b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(21f1002476)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i="0" dirty="0"/>
                        <a:t>Idea Proposal, Interviews, Draft Interview Questions &amp; Reports, Final Submissions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179425"/>
                  </a:ext>
                </a:extLst>
              </a:tr>
              <a:tr h="86062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450" b="1" dirty="0">
                          <a:solidFill>
                            <a:srgbClr val="7A1F1A"/>
                          </a:solidFill>
                        </a:rPr>
                        <a:t>Harsh Vardhan</a:t>
                      </a:r>
                      <a:br>
                        <a:rPr lang="en-US" sz="1450" b="1" dirty="0">
                          <a:solidFill>
                            <a:srgbClr val="7A1F1A"/>
                          </a:solidFill>
                        </a:rPr>
                      </a:br>
                      <a:r>
                        <a:rPr lang="en-US" sz="1450" b="1" dirty="0">
                          <a:solidFill>
                            <a:srgbClr val="7A1F1A"/>
                          </a:solidFill>
                        </a:rPr>
                        <a:t>(24f1002285)</a:t>
                      </a:r>
                      <a:endParaRPr lang="en-IN" sz="1450" b="1" dirty="0">
                        <a:solidFill>
                          <a:srgbClr val="7A1F1A"/>
                        </a:solidFill>
                      </a:endParaRP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450" i="0" dirty="0"/>
                        <a:t>Idea Proposal, I</a:t>
                      </a:r>
                      <a:r>
                        <a:rPr lang="en-IN" sz="1450" i="0" dirty="0" err="1"/>
                        <a:t>nterviews</a:t>
                      </a:r>
                      <a:r>
                        <a:rPr lang="en-IN" sz="1450" i="0" dirty="0"/>
                        <a:t>, Final Submissions</a:t>
                      </a: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833385"/>
                  </a:ext>
                </a:extLst>
              </a:tr>
              <a:tr h="806406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Shrinidhi Kumar</a:t>
                      </a:r>
                      <a:br>
                        <a:rPr lang="en-IN" sz="1450" b="1" dirty="0">
                          <a:solidFill>
                            <a:srgbClr val="7A1F1A"/>
                          </a:solidFill>
                        </a:rPr>
                      </a:b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(23f1002153)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450" i="0" dirty="0"/>
                        <a:t>Idea Proposal, I</a:t>
                      </a:r>
                      <a:r>
                        <a:rPr lang="en-IN" sz="1450" i="0" dirty="0" err="1"/>
                        <a:t>nterviews</a:t>
                      </a:r>
                      <a:r>
                        <a:rPr lang="en-IN" sz="1450" i="0" dirty="0"/>
                        <a:t>, Final Submissions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79865"/>
                  </a:ext>
                </a:extLst>
              </a:tr>
              <a:tr h="78588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Ashirwad</a:t>
                      </a:r>
                      <a:br>
                        <a:rPr lang="en-IN" sz="1450" b="1" dirty="0">
                          <a:solidFill>
                            <a:srgbClr val="7A1F1A"/>
                          </a:solidFill>
                        </a:rPr>
                      </a:br>
                      <a:r>
                        <a:rPr lang="en-IN" sz="1450" b="1" dirty="0">
                          <a:solidFill>
                            <a:srgbClr val="7A1F1A"/>
                          </a:solidFill>
                        </a:rPr>
                        <a:t>(23f2000650)</a:t>
                      </a: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450" i="0" dirty="0"/>
                        <a:t>Idea Proposal, I</a:t>
                      </a:r>
                      <a:r>
                        <a:rPr lang="en-IN" sz="1450" i="0" dirty="0" err="1"/>
                        <a:t>nterviews</a:t>
                      </a:r>
                      <a:r>
                        <a:rPr lang="en-IN" sz="1450" i="0" dirty="0"/>
                        <a:t>, Final Submissions</a:t>
                      </a:r>
                    </a:p>
                  </a:txBody>
                  <a:tcPr marL="126842" marR="126842" marT="63421" marB="63421" anchor="ctr">
                    <a:solidFill>
                      <a:srgbClr val="F0E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722057"/>
                  </a:ext>
                </a:extLst>
              </a:tr>
              <a:tr h="78588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1450" b="1" dirty="0">
                          <a:solidFill>
                            <a:srgbClr val="7A1F1A"/>
                          </a:solidFill>
                        </a:rPr>
                        <a:t>Hariom Kumar</a:t>
                      </a:r>
                      <a:br>
                        <a:rPr lang="en-US" sz="1450" b="1" dirty="0">
                          <a:solidFill>
                            <a:srgbClr val="7A1F1A"/>
                          </a:solidFill>
                        </a:rPr>
                      </a:br>
                      <a:r>
                        <a:rPr lang="en-US" sz="1450" b="1" dirty="0">
                          <a:solidFill>
                            <a:srgbClr val="7A1F1A"/>
                          </a:solidFill>
                        </a:rPr>
                        <a:t>(23f2004225)</a:t>
                      </a:r>
                      <a:endParaRPr lang="en-IN" sz="1450" b="1" dirty="0">
                        <a:solidFill>
                          <a:srgbClr val="7A1F1A"/>
                        </a:solidFill>
                      </a:endParaRP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i="0" dirty="0"/>
                        <a:t>Idea Proposal, I</a:t>
                      </a:r>
                      <a:r>
                        <a:rPr lang="en-IN" sz="1450" i="0" dirty="0" err="1"/>
                        <a:t>nterviews</a:t>
                      </a:r>
                      <a:r>
                        <a:rPr lang="en-IN" sz="1450" i="0" dirty="0"/>
                        <a:t>, Final Submissions</a:t>
                      </a:r>
                    </a:p>
                  </a:txBody>
                  <a:tcPr marL="126842" marR="126842" marT="63421" marB="6342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434905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E77CF513-77E6-5CC2-F12C-4C3452AB68DD}"/>
              </a:ext>
            </a:extLst>
          </p:cNvPr>
          <p:cNvGrpSpPr/>
          <p:nvPr/>
        </p:nvGrpSpPr>
        <p:grpSpPr>
          <a:xfrm>
            <a:off x="6025415" y="1071182"/>
            <a:ext cx="5746281" cy="2198554"/>
            <a:chOff x="457200" y="1783080"/>
            <a:chExt cx="5295197" cy="23063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929F2A-62E1-652F-8822-5E2E71E472EE}"/>
                </a:ext>
              </a:extLst>
            </p:cNvPr>
            <p:cNvSpPr/>
            <p:nvPr/>
          </p:nvSpPr>
          <p:spPr>
            <a:xfrm>
              <a:off x="457200" y="1783080"/>
              <a:ext cx="5295197" cy="2306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9785E41-2C5C-EF03-74E9-7540EAC2C415}"/>
                </a:ext>
              </a:extLst>
            </p:cNvPr>
            <p:cNvGrpSpPr/>
            <p:nvPr/>
          </p:nvGrpSpPr>
          <p:grpSpPr>
            <a:xfrm>
              <a:off x="457200" y="1783080"/>
              <a:ext cx="5295197" cy="411480"/>
              <a:chOff x="457200" y="1783080"/>
              <a:chExt cx="5295197" cy="41148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B8096BF-0A3B-03D8-4E64-B5AA135AD574}"/>
                  </a:ext>
                </a:extLst>
              </p:cNvPr>
              <p:cNvSpPr/>
              <p:nvPr/>
            </p:nvSpPr>
            <p:spPr>
              <a:xfrm>
                <a:off x="457200" y="1783080"/>
                <a:ext cx="5295197" cy="411480"/>
              </a:xfrm>
              <a:prstGeom prst="rect">
                <a:avLst/>
              </a:prstGeom>
              <a:solidFill>
                <a:srgbClr val="7A1F1A"/>
              </a:solidFill>
              <a:ln>
                <a:noFill/>
              </a:ln>
              <a:effectLst>
                <a:softEdge rad="1270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BCA59D-7B78-5743-FCE1-CF478D722004}"/>
                  </a:ext>
                </a:extLst>
              </p:cNvPr>
              <p:cNvSpPr txBox="1"/>
              <p:nvPr/>
            </p:nvSpPr>
            <p:spPr>
              <a:xfrm>
                <a:off x="685801" y="1842250"/>
                <a:ext cx="5066596" cy="29314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ctr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/>
                  </a:rPr>
                  <a:t>Challenges</a:t>
                </a:r>
                <a:endParaRPr sz="15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9B6B64-CF5B-C4B5-A319-0CCD6B4CCAC8}"/>
                </a:ext>
              </a:extLst>
            </p:cNvPr>
            <p:cNvSpPr txBox="1"/>
            <p:nvPr/>
          </p:nvSpPr>
          <p:spPr>
            <a:xfrm>
              <a:off x="685801" y="2331720"/>
              <a:ext cx="4717932" cy="1551472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marL="285750" indent="-285750" algn="just">
                <a:lnSpc>
                  <a:spcPct val="114000"/>
                </a:lnSpc>
                <a:buFont typeface="Wingdings" panose="05000000000000000000" pitchFamily="2" charset="2"/>
                <a:buChar char="§"/>
              </a:pPr>
              <a:r>
                <a:rPr lang="en-US" sz="1400" b="1" dirty="0"/>
                <a:t>Filtering Algorithmic Hype: </a:t>
              </a:r>
              <a:r>
                <a:rPr lang="en-US" sz="1400" dirty="0"/>
                <a:t>Isolating specific, timestamped workplace behaviors from generalized industry commentary about Generative AI. </a:t>
              </a:r>
            </a:p>
            <a:p>
              <a:pPr marL="285750" indent="-285750" algn="just">
                <a:lnSpc>
                  <a:spcPct val="114000"/>
                </a:lnSpc>
                <a:buFont typeface="Wingdings" panose="05000000000000000000" pitchFamily="2" charset="2"/>
                <a:buChar char="§"/>
              </a:pPr>
              <a:r>
                <a:rPr lang="en-US" sz="1400" b="1" dirty="0"/>
                <a:t>Cross-Domain Synthesis: </a:t>
              </a:r>
              <a:r>
                <a:rPr lang="en-US" sz="1400" dirty="0"/>
                <a:t>Unifying insights across contrasting roles (e.g., frontline software engineers vs. product management leads) into a single cohesive behavioral model.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027CBE6-B2C6-2491-57F0-FDF000866616}"/>
              </a:ext>
            </a:extLst>
          </p:cNvPr>
          <p:cNvGrpSpPr/>
          <p:nvPr/>
        </p:nvGrpSpPr>
        <p:grpSpPr>
          <a:xfrm>
            <a:off x="6025415" y="3391551"/>
            <a:ext cx="5746281" cy="2116138"/>
            <a:chOff x="457200" y="1783080"/>
            <a:chExt cx="5295197" cy="23063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E8B9DF-98AF-487C-96E3-CEE8AB030E04}"/>
                </a:ext>
              </a:extLst>
            </p:cNvPr>
            <p:cNvSpPr/>
            <p:nvPr/>
          </p:nvSpPr>
          <p:spPr>
            <a:xfrm>
              <a:off x="457200" y="1783080"/>
              <a:ext cx="5295197" cy="2306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234300-022B-0CE1-08A8-141B7AECA423}"/>
                </a:ext>
              </a:extLst>
            </p:cNvPr>
            <p:cNvGrpSpPr/>
            <p:nvPr/>
          </p:nvGrpSpPr>
          <p:grpSpPr>
            <a:xfrm>
              <a:off x="457200" y="1783080"/>
              <a:ext cx="5295197" cy="411480"/>
              <a:chOff x="457200" y="1783080"/>
              <a:chExt cx="5295197" cy="41148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06BDE86-21F3-7F90-CAD1-D06AEA687BC4}"/>
                  </a:ext>
                </a:extLst>
              </p:cNvPr>
              <p:cNvSpPr/>
              <p:nvPr/>
            </p:nvSpPr>
            <p:spPr>
              <a:xfrm>
                <a:off x="457200" y="1783080"/>
                <a:ext cx="5295197" cy="411480"/>
              </a:xfrm>
              <a:prstGeom prst="rect">
                <a:avLst/>
              </a:prstGeom>
              <a:solidFill>
                <a:srgbClr val="7A1F1A"/>
              </a:solidFill>
              <a:ln>
                <a:noFill/>
              </a:ln>
              <a:effectLst>
                <a:softEdge rad="1270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E07579-8285-0F11-2E8C-2675127E52F2}"/>
                  </a:ext>
                </a:extLst>
              </p:cNvPr>
              <p:cNvSpPr txBox="1"/>
              <p:nvPr/>
            </p:nvSpPr>
            <p:spPr>
              <a:xfrm>
                <a:off x="685801" y="1842250"/>
                <a:ext cx="5066596" cy="29314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ctr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/>
                  </a:rPr>
                  <a:t>Best Practices</a:t>
                </a:r>
                <a:endParaRPr sz="15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0DBAD9-5597-D1F6-2649-D1929C1CE366}"/>
                </a:ext>
              </a:extLst>
            </p:cNvPr>
            <p:cNvSpPr txBox="1"/>
            <p:nvPr/>
          </p:nvSpPr>
          <p:spPr>
            <a:xfrm>
              <a:off x="685801" y="2331720"/>
              <a:ext cx="4717932" cy="1551472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marL="285750" indent="-285750" algn="just">
                <a:lnSpc>
                  <a:spcPct val="114000"/>
                </a:lnSpc>
                <a:buFont typeface="Wingdings" panose="05000000000000000000" pitchFamily="2" charset="2"/>
                <a:buChar char="§"/>
              </a:pPr>
              <a:r>
                <a:rPr lang="en-US" sz="1400" b="1" dirty="0"/>
                <a:t>Timestamped Verbatim Coding:</a:t>
              </a:r>
              <a:r>
                <a:rPr lang="en-US" sz="1400" dirty="0"/>
                <a:t> Directly linked every insight to exact transcript timestamps to ensure data fidelity and verifiability.</a:t>
              </a:r>
            </a:p>
            <a:p>
              <a:pPr marL="285750" indent="-285750" algn="just">
                <a:lnSpc>
                  <a:spcPct val="114000"/>
                </a:lnSpc>
                <a:buFont typeface="Wingdings" panose="05000000000000000000" pitchFamily="2" charset="2"/>
                <a:buChar char="§"/>
              </a:pPr>
              <a:r>
                <a:rPr lang="en-US" sz="1400" b="1" dirty="0"/>
                <a:t>Multi-Tier Perspective Sampling:</a:t>
              </a:r>
              <a:r>
                <a:rPr lang="en-US" sz="1400" dirty="0"/>
                <a:t> Paired frontline individual contributors with managerial decision-makers to capture both operational execution and evaluation metrics.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07A482-4E87-E9BC-84F6-14A8879365FA}"/>
              </a:ext>
            </a:extLst>
          </p:cNvPr>
          <p:cNvGrpSpPr/>
          <p:nvPr/>
        </p:nvGrpSpPr>
        <p:grpSpPr>
          <a:xfrm>
            <a:off x="356844" y="5707142"/>
            <a:ext cx="11414852" cy="771296"/>
            <a:chOff x="457199" y="1737360"/>
            <a:chExt cx="7712400" cy="22567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93BEC2-6145-BDC1-A2B2-B08600F0D5D2}"/>
                </a:ext>
              </a:extLst>
            </p:cNvPr>
            <p:cNvSpPr/>
            <p:nvPr/>
          </p:nvSpPr>
          <p:spPr>
            <a:xfrm>
              <a:off x="457199" y="1737361"/>
              <a:ext cx="7712400" cy="2256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B56D00A-BC43-A1B6-0F84-EFF2E3C7BE84}"/>
                </a:ext>
              </a:extLst>
            </p:cNvPr>
            <p:cNvSpPr/>
            <p:nvPr/>
          </p:nvSpPr>
          <p:spPr>
            <a:xfrm>
              <a:off x="457200" y="1737360"/>
              <a:ext cx="61501" cy="2242850"/>
            </a:xfrm>
            <a:prstGeom prst="rect">
              <a:avLst/>
            </a:prstGeom>
            <a:solidFill>
              <a:srgbClr val="7A1F1A"/>
            </a:solidFill>
            <a:ln>
              <a:noFill/>
            </a:ln>
            <a:effectLst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FE17831-137E-4BC7-C2AB-788AA34A7D60}"/>
                </a:ext>
              </a:extLst>
            </p:cNvPr>
            <p:cNvSpPr txBox="1"/>
            <p:nvPr/>
          </p:nvSpPr>
          <p:spPr>
            <a:xfrm>
              <a:off x="658902" y="1974553"/>
              <a:ext cx="1945268" cy="25642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endParaRPr sz="1500" b="1" i="1" dirty="0">
                <a:solidFill>
                  <a:srgbClr val="C9A030"/>
                </a:solidFill>
                <a:latin typeface="Calibri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4095DE-FD2C-E755-5D43-4FFA123C7B8F}"/>
                </a:ext>
              </a:extLst>
            </p:cNvPr>
            <p:cNvSpPr txBox="1"/>
            <p:nvPr/>
          </p:nvSpPr>
          <p:spPr>
            <a:xfrm>
              <a:off x="588311" y="2065287"/>
              <a:ext cx="7485264" cy="124431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sz="1450" b="1" i="1" dirty="0">
                  <a:solidFill>
                    <a:srgbClr val="C9A030"/>
                  </a:solidFill>
                </a:rPr>
                <a:t>"AI does not replace human intellect; it elevates performance baselines. A growth mindset buffers technostress by channeling algorithmic anxiety into technical curiosity—anchoring career resilience in non-automatable human accountability, domain logic, and critical judgment."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968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861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Rishi Jain</dc:creator>
  <cp:keywords/>
  <dc:description>generated using python-pptx</dc:description>
  <cp:lastModifiedBy>Rishi Jain</cp:lastModifiedBy>
  <cp:revision>175</cp:revision>
  <cp:lastPrinted>2026-07-25T11:25:00Z</cp:lastPrinted>
  <dcterms:created xsi:type="dcterms:W3CDTF">2013-01-27T09:14:16Z</dcterms:created>
  <dcterms:modified xsi:type="dcterms:W3CDTF">2026-07-25T18:00:51Z</dcterms:modified>
  <cp:category/>
</cp:coreProperties>
</file>